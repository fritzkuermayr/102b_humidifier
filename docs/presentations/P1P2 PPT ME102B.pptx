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ewsreader"/>
      <p:regular r:id="rId11"/>
      <p:bold r:id="rId12"/>
      <p:italic r:id="rId13"/>
      <p:boldItalic r:id="rId14"/>
    </p:embeddedFont>
    <p:embeddedFont>
      <p:font typeface="Newsreader Light"/>
      <p:regular r:id="rId15"/>
      <p:bold r:id="rId16"/>
      <p:italic r:id="rId17"/>
      <p:boldItalic r:id="rId18"/>
    </p:embeddedFont>
    <p:embeddedFont>
      <p:font typeface="DM Sans Light"/>
      <p:regular r:id="rId19"/>
      <p:bold r:id="rId20"/>
      <p:italic r:id="rId21"/>
      <p:boldItalic r:id="rId22"/>
    </p:embeddedFont>
    <p:embeddedFont>
      <p:font typeface="DM Sans SemiBold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  <p:embeddedFont>
      <p:font typeface="Newsreader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wsreaderSemiBold-regular.fntdata"/><Relationship Id="rId30" Type="http://schemas.openxmlformats.org/officeDocument/2006/relationships/font" Target="fonts/DMSans-boldItalic.fntdata"/><Relationship Id="rId33" Type="http://schemas.openxmlformats.org/officeDocument/2006/relationships/font" Target="fonts/NewsreaderSemiBold-italic.fntdata"/><Relationship Id="rId32" Type="http://schemas.openxmlformats.org/officeDocument/2006/relationships/font" Target="fonts/NewsreaderSemiBold-bold.fntdata"/><Relationship Id="rId34" Type="http://schemas.openxmlformats.org/officeDocument/2006/relationships/font" Target="fonts/NewsreaderSemiBold-boldItalic.fntdata"/><Relationship Id="rId20" Type="http://schemas.openxmlformats.org/officeDocument/2006/relationships/font" Target="fonts/DMSansLight-bold.fntdata"/><Relationship Id="rId22" Type="http://schemas.openxmlformats.org/officeDocument/2006/relationships/font" Target="fonts/DMSansLight-boldItalic.fntdata"/><Relationship Id="rId21" Type="http://schemas.openxmlformats.org/officeDocument/2006/relationships/font" Target="fonts/DMSansLight-italic.fntdata"/><Relationship Id="rId24" Type="http://schemas.openxmlformats.org/officeDocument/2006/relationships/font" Target="fonts/DMSansSemiBold-bold.fntdata"/><Relationship Id="rId23" Type="http://schemas.openxmlformats.org/officeDocument/2006/relationships/font" Target="fonts/DMSansSemiBold-regular.fntdata"/><Relationship Id="rId26" Type="http://schemas.openxmlformats.org/officeDocument/2006/relationships/font" Target="fonts/DMSansSemiBold-boldItalic.fntdata"/><Relationship Id="rId25" Type="http://schemas.openxmlformats.org/officeDocument/2006/relationships/font" Target="fonts/DMSansSemiBold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29" Type="http://schemas.openxmlformats.org/officeDocument/2006/relationships/font" Target="fonts/DMSans-italic.fntdata"/><Relationship Id="rId11" Type="http://schemas.openxmlformats.org/officeDocument/2006/relationships/font" Target="fonts/Newsreader-regular.fntdata"/><Relationship Id="rId10" Type="http://schemas.openxmlformats.org/officeDocument/2006/relationships/slide" Target="slides/slide5.xml"/><Relationship Id="rId13" Type="http://schemas.openxmlformats.org/officeDocument/2006/relationships/font" Target="fonts/Newsreader-italic.fntdata"/><Relationship Id="rId12" Type="http://schemas.openxmlformats.org/officeDocument/2006/relationships/font" Target="fonts/Newsreader-bold.fntdata"/><Relationship Id="rId15" Type="http://schemas.openxmlformats.org/officeDocument/2006/relationships/font" Target="fonts/NewsreaderLight-regular.fntdata"/><Relationship Id="rId14" Type="http://schemas.openxmlformats.org/officeDocument/2006/relationships/font" Target="fonts/Newsreader-boldItalic.fntdata"/><Relationship Id="rId17" Type="http://schemas.openxmlformats.org/officeDocument/2006/relationships/font" Target="fonts/NewsreaderLight-italic.fntdata"/><Relationship Id="rId16" Type="http://schemas.openxmlformats.org/officeDocument/2006/relationships/font" Target="fonts/NewsreaderLight-bold.fntdata"/><Relationship Id="rId19" Type="http://schemas.openxmlformats.org/officeDocument/2006/relationships/font" Target="fonts/DMSansLight-regular.fntdata"/><Relationship Id="rId18" Type="http://schemas.openxmlformats.org/officeDocument/2006/relationships/font" Target="fonts/Newsread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68c6142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68c6142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68c6142a2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68c6142a2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68c6142a2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c68c6142a2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68c6142a2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c68c6142a2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68c6142a2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68c6142a2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6151525" y="-8750"/>
            <a:ext cx="3008200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226350" y="1285950"/>
            <a:ext cx="5763000" cy="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GreenBot</a:t>
            </a:r>
            <a:br>
              <a:rPr lang="en"/>
            </a:br>
            <a:endParaRPr sz="1200"/>
          </a:p>
        </p:txBody>
      </p:sp>
      <p:sp>
        <p:nvSpPr>
          <p:cNvPr id="470" name="Google Shape;470;p55"/>
          <p:cNvSpPr txBox="1"/>
          <p:nvPr>
            <p:ph idx="3" type="body"/>
          </p:nvPr>
        </p:nvSpPr>
        <p:spPr>
          <a:xfrm>
            <a:off x="226350" y="3084850"/>
            <a:ext cx="5763000" cy="82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Newsreader Light"/>
                <a:ea typeface="Newsreader Light"/>
                <a:cs typeface="Newsreader Light"/>
                <a:sym typeface="Newsreader Light"/>
              </a:rPr>
              <a:t>Team Members:</a:t>
            </a:r>
            <a:endParaRPr sz="1400">
              <a:latin typeface="Newsreader Light"/>
              <a:ea typeface="Newsreader Light"/>
              <a:cs typeface="Newsreader Light"/>
              <a:sym typeface="Newsreader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Newsreader"/>
                <a:ea typeface="Newsreader"/>
                <a:cs typeface="Newsreader"/>
                <a:sym typeface="Newsreader"/>
              </a:rPr>
              <a:t>Bader AlKhawashki, Arunima Basu, Fritz Kuermayr, Salvador Gonzalez</a:t>
            </a:r>
            <a:endParaRPr sz="14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ewsreader Light"/>
              <a:ea typeface="Newsreader Light"/>
              <a:cs typeface="Newsreader Light"/>
              <a:sym typeface="Newsreader Light"/>
            </a:endParaRPr>
          </a:p>
        </p:txBody>
      </p:sp>
      <p:sp>
        <p:nvSpPr>
          <p:cNvPr id="471" name="Google Shape;471;p55"/>
          <p:cNvSpPr txBox="1"/>
          <p:nvPr/>
        </p:nvSpPr>
        <p:spPr>
          <a:xfrm>
            <a:off x="225750" y="1895400"/>
            <a:ext cx="5764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Greenhouse Robot : Mechatronics Prototype project</a:t>
            </a:r>
            <a:endParaRPr sz="1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2" name="Google Shape;472;p55"/>
          <p:cNvSpPr txBox="1"/>
          <p:nvPr/>
        </p:nvSpPr>
        <p:spPr>
          <a:xfrm>
            <a:off x="226350" y="2297250"/>
            <a:ext cx="57630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 102B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Team #22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Del. 4A</a:t>
            </a:r>
            <a:endParaRPr/>
          </a:p>
        </p:txBody>
      </p:sp>
      <p:sp>
        <p:nvSpPr>
          <p:cNvPr id="478" name="Google Shape;478;p56"/>
          <p:cNvSpPr txBox="1"/>
          <p:nvPr>
            <p:ph idx="3" type="body"/>
          </p:nvPr>
        </p:nvSpPr>
        <p:spPr>
          <a:xfrm>
            <a:off x="547575" y="3337800"/>
            <a:ext cx="69192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Farmers work long hours, but they cannot always be inside their greenhouses to constantly check humidity and adding </a:t>
            </a: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nutrients</a:t>
            </a: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 to soils every set number of hours.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Even small changes in these conditions can affect plant health and crop yield. 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Many existing automation systems are either too expensive or too complicated for everyday use, especially for small and medium sized farms. Because of this, farmers need a simple and affordable way to monitor and control their greenhouse environment even when they are not physically present. 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Our GreenBot is designed to solve this problem by helping farmers easily manage greenhouse conditions remotely and automatically, reducing stress, saving time, and improving crop growth.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Newsreader Light"/>
              <a:ea typeface="Newsreader Light"/>
              <a:cs typeface="Newsreader Light"/>
              <a:sym typeface="Newsreader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"/>
          <p:cNvSpPr txBox="1"/>
          <p:nvPr>
            <p:ph type="title"/>
          </p:nvPr>
        </p:nvSpPr>
        <p:spPr>
          <a:xfrm>
            <a:off x="-241175" y="772250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Del. 4B</a:t>
            </a:r>
            <a:endParaRPr/>
          </a:p>
        </p:txBody>
      </p:sp>
      <p:sp>
        <p:nvSpPr>
          <p:cNvPr id="484" name="Google Shape;484;p5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7"/>
          <p:cNvSpPr txBox="1"/>
          <p:nvPr>
            <p:ph idx="3" type="body"/>
          </p:nvPr>
        </p:nvSpPr>
        <p:spPr>
          <a:xfrm>
            <a:off x="503550" y="1105350"/>
            <a:ext cx="2651100" cy="24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GreenBot continuously monitors key greenhouse humidity conditions. When values drift outside target ranges, it automatically triggers the correct response (humidification).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Newsreader Light"/>
              <a:ea typeface="Newsreader Light"/>
              <a:cs typeface="Newsreader Light"/>
              <a:sym typeface="Newsreader Light"/>
            </a:endParaRPr>
          </a:p>
        </p:txBody>
      </p:sp>
      <p:sp>
        <p:nvSpPr>
          <p:cNvPr id="486" name="Google Shape;486;p57"/>
          <p:cNvSpPr txBox="1"/>
          <p:nvPr/>
        </p:nvSpPr>
        <p:spPr>
          <a:xfrm>
            <a:off x="7036200" y="801400"/>
            <a:ext cx="1834800" cy="3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Figure 1: Deliverable 4.B Cartoon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* Degrees of Freedom: robot moves in any direction on the ground using motors. Sprayer can extend and retract (could be switched to static sprayer), humidity sensor stays static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** Subject to change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487" name="Google Shape;487;p57" title="Screenshot_20260208_202054_Samsung Not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275" y="552875"/>
            <a:ext cx="2822526" cy="403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/>
          <p:nvPr>
            <p:ph type="title"/>
          </p:nvPr>
        </p:nvSpPr>
        <p:spPr>
          <a:xfrm>
            <a:off x="106050" y="772250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Del. 4C </a:t>
            </a:r>
            <a:endParaRPr/>
          </a:p>
        </p:txBody>
      </p:sp>
      <p:sp>
        <p:nvSpPr>
          <p:cNvPr id="493" name="Google Shape;493;p58"/>
          <p:cNvSpPr txBox="1"/>
          <p:nvPr>
            <p:ph idx="1" type="subTitle"/>
          </p:nvPr>
        </p:nvSpPr>
        <p:spPr>
          <a:xfrm>
            <a:off x="6708900" y="2999700"/>
            <a:ext cx="22683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 Light"/>
                <a:ea typeface="Newsreader Light"/>
                <a:cs typeface="Newsreader Light"/>
                <a:sym typeface="Newsreader Light"/>
              </a:rPr>
              <a:t>Figure 2: Early prototype picture</a:t>
            </a:r>
            <a:endParaRPr sz="1200">
              <a:latin typeface="Newsreader Light"/>
              <a:ea typeface="Newsreader Light"/>
              <a:cs typeface="Newsreader Light"/>
              <a:sym typeface="Newsreader Light"/>
            </a:endParaRPr>
          </a:p>
        </p:txBody>
      </p:sp>
      <p:sp>
        <p:nvSpPr>
          <p:cNvPr id="494" name="Google Shape;494;p58"/>
          <p:cNvSpPr txBox="1"/>
          <p:nvPr>
            <p:ph idx="3" type="body"/>
          </p:nvPr>
        </p:nvSpPr>
        <p:spPr>
          <a:xfrm>
            <a:off x="251250" y="2931900"/>
            <a:ext cx="3569700" cy="22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Newsreader"/>
                <a:ea typeface="Newsreader"/>
                <a:cs typeface="Newsreader"/>
                <a:sym typeface="Newsreader"/>
              </a:rPr>
              <a:t>Materials Exploration &amp; Early Prototyping</a:t>
            </a:r>
            <a:endParaRPr b="1"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We gathered basic materials to test key subsystems of our greenhouse robot, including a humidity sensor, small humidifier module, and a 4-</a:t>
            </a: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legged</a:t>
            </a: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 robot. We also used a spray bottle with water to represent nutrient liquid delivery.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Newsreader"/>
                <a:ea typeface="Newsreader"/>
                <a:cs typeface="Newsreader"/>
                <a:sym typeface="Newsreader"/>
              </a:rPr>
              <a:t>We play-acted the robot’s behavior by manually moving the mockup through a marked greenhouse area while taking humidity readings at different locations and heights. When humidity dropped below a set threshold, we activated the humidifier to observe how quickly and how far moisture spread.</a:t>
            </a:r>
            <a:endParaRPr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Newsreader Light"/>
              <a:ea typeface="Newsreader Light"/>
              <a:cs typeface="Newsreader Light"/>
              <a:sym typeface="Newsreader Light"/>
            </a:endParaRPr>
          </a:p>
        </p:txBody>
      </p:sp>
      <p:sp>
        <p:nvSpPr>
          <p:cNvPr id="495" name="Google Shape;495;p58"/>
          <p:cNvSpPr txBox="1"/>
          <p:nvPr/>
        </p:nvSpPr>
        <p:spPr>
          <a:xfrm>
            <a:off x="3820950" y="772250"/>
            <a:ext cx="2598900" cy="29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Observations</a:t>
            </a:r>
            <a:endParaRPr b="1"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ewsreader"/>
              <a:buChar char="●"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Humidity varies across the greenhouse; it is not evenly distributed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ewsreader"/>
              <a:buChar char="●"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A stationary humidifier does not provide full coverage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ewsreader"/>
              <a:buChar char="●"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Robot movement improves humidity and liquid distribution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ewsreader"/>
              <a:buChar char="●"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Sensor placement near plant level is important</a:t>
            </a:r>
            <a:b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These tests confirmed that a mobile robot with automatic humidity control is a feasible and effective solution. </a:t>
            </a:r>
            <a:endParaRPr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(* Design subject to change.)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96" name="Google Shape;496;p58" title="100008767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3400" y="1066100"/>
            <a:ext cx="2598748" cy="1949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"/>
          <p:cNvSpPr txBox="1"/>
          <p:nvPr>
            <p:ph type="title"/>
          </p:nvPr>
        </p:nvSpPr>
        <p:spPr>
          <a:xfrm>
            <a:off x="43625" y="72247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4D</a:t>
            </a:r>
            <a:endParaRPr/>
          </a:p>
        </p:txBody>
      </p:sp>
      <p:sp>
        <p:nvSpPr>
          <p:cNvPr id="502" name="Google Shape;502;p59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9"/>
          <p:cNvSpPr txBox="1"/>
          <p:nvPr>
            <p:ph idx="3" type="body"/>
          </p:nvPr>
        </p:nvSpPr>
        <p:spPr>
          <a:xfrm>
            <a:off x="2872650" y="38159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latin typeface="Newsreader Light"/>
                <a:ea typeface="Newsreader Light"/>
                <a:cs typeface="Newsreader Light"/>
                <a:sym typeface="Newsreader Light"/>
              </a:rPr>
              <a:t>Figure 3: Deliverable 4.D Sketch *Subject to Change</a:t>
            </a:r>
            <a:endParaRPr sz="1200">
              <a:latin typeface="Newsreader Light"/>
              <a:ea typeface="Newsreader Light"/>
              <a:cs typeface="Newsreader Light"/>
              <a:sym typeface="Newsreader Light"/>
            </a:endParaRPr>
          </a:p>
        </p:txBody>
      </p:sp>
      <p:pic>
        <p:nvPicPr>
          <p:cNvPr id="504" name="Google Shape;504;p59" title="Screenshot_20260208_201227_Samsung Not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36" y="408488"/>
            <a:ext cx="2999125" cy="4326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