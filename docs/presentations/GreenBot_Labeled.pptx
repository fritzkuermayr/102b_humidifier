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GreenBot — Integrated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Annotated views of actuators, sensors, joints &amp; subsystems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520440"/>
            <a:ext cx="2286000" cy="45720"/>
          </a:xfrm>
          <a:prstGeom prst="rect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MEC ENG 102B  ·  Mechatronics Design  ·  Spring 2026  ·  Group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Bader AlKhawashki  ·  Fritz Kuermayr  ·  Salvador Gonzalez  ·  Arunima Basu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6B80C"/>
                </a:solidFill>
                <a:latin typeface="Calibri"/>
              </a:rPr>
              <a:t>LABEL COLORS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546811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5440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Actuator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5797296"/>
            <a:ext cx="201168" cy="20116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57698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Sensor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6126480"/>
            <a:ext cx="201168" cy="201168"/>
          </a:xfrm>
          <a:prstGeom prst="ellipse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6099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Moving part / joint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6455664"/>
            <a:ext cx="201168" cy="20116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64282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Subsystem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Overview — Fully Integrated GreenBot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Side view: humidity-control payload, electronics rack, and 8-DOF quadruped legs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459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Group 22 • GreenBot</a:t>
            </a:r>
          </a:p>
        </p:txBody>
      </p:sp>
      <p:pic>
        <p:nvPicPr>
          <p:cNvPr id="7" name="Picture 6" descr="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839" y="960120"/>
            <a:ext cx="3189281" cy="5669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1005840"/>
            <a:ext cx="2468880" cy="64008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Mister / Ultrasonic Humidifier
(diffuser head)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325880"/>
            <a:ext cx="3542743" cy="1335024"/>
          </a:xfrm>
          <a:prstGeom prst="line">
            <a:avLst/>
          </a:prstGeom>
          <a:ln w="22225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231079" y="2606040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783080"/>
            <a:ext cx="2468880" cy="64008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V · 5000 mAh
Li-Ion Battery Pack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43200" y="2093976"/>
            <a:ext cx="3383279" cy="9144"/>
          </a:xfrm>
          <a:prstGeom prst="line">
            <a:avLst/>
          </a:prstGeom>
          <a:ln w="22225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071615" y="2039112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2560320"/>
            <a:ext cx="2468880" cy="64008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3D-printed top housing
(electronics &amp; battery)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2880360"/>
            <a:ext cx="3064351" cy="460857"/>
          </a:xfrm>
          <a:prstGeom prst="line">
            <a:avLst/>
          </a:prstGeom>
          <a:ln w="22225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752687" y="3286353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3337560"/>
            <a:ext cx="2468880" cy="64008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Mister Tank / Nozzle Arm
(piezo + water tube)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3657600"/>
            <a:ext cx="2107567" cy="137160"/>
          </a:xfrm>
          <a:prstGeom prst="line">
            <a:avLst/>
          </a:prstGeom>
          <a:ln w="22225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795903" y="3739896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4114800"/>
            <a:ext cx="2468880" cy="64008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Power-Distribution PCB
(buck converter + terminals)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743200" y="3397910"/>
            <a:ext cx="2362709" cy="1036930"/>
          </a:xfrm>
          <a:prstGeom prst="line">
            <a:avLst/>
          </a:prstGeom>
          <a:ln w="22225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051045" y="3343046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4320" y="4892040"/>
            <a:ext cx="2468880" cy="6400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Front-Left Dynamixel RX-24F
HIP actuator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5212080"/>
            <a:ext cx="2362709" cy="170078"/>
          </a:xfrm>
          <a:prstGeom prst="line">
            <a:avLst/>
          </a:prstGeom>
          <a:ln w="222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051045" y="5327294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4320" y="5715000"/>
            <a:ext cx="2468880" cy="640080"/>
          </a:xfrm>
          <a:prstGeom prst="roundRect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Rear-Left Knee Joint
(4-bar linkage, 638ZZ bearings)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" y="6035040"/>
            <a:ext cx="2585959" cy="197510"/>
          </a:xfrm>
          <a:prstGeom prst="line">
            <a:avLst/>
          </a:prstGeom>
          <a:ln w="22225">
            <a:solidFill>
              <a:srgbClr val="F6B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274295" y="6177686"/>
            <a:ext cx="109728" cy="109728"/>
          </a:xfrm>
          <a:prstGeom prst="ellipse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48495" y="1005840"/>
            <a:ext cx="2468880" cy="640080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SHT40 Humidity &amp; Temperature
Sensor (I²C, with status LED)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967015" y="1325880"/>
            <a:ext cx="3481480" cy="2752344"/>
          </a:xfrm>
          <a:prstGeom prst="line">
            <a:avLst/>
          </a:prstGeom>
          <a:ln w="22225">
            <a:solidFill>
              <a:srgbClr val="16A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912151" y="4023360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48495" y="1783080"/>
            <a:ext cx="2468880" cy="64008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Raspberry Pi (control unit)
running gait + humidity loop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6285943" y="1243584"/>
            <a:ext cx="3162552" cy="859536"/>
          </a:xfrm>
          <a:prstGeom prst="line">
            <a:avLst/>
          </a:prstGeom>
          <a:ln w="22225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231079" y="1188720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48495" y="2560320"/>
            <a:ext cx="2468880" cy="64008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Cytron MD13S Motor Driver
(per-side PWM control)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242727" y="2880360"/>
            <a:ext cx="2205768" cy="914400"/>
          </a:xfrm>
          <a:prstGeom prst="line">
            <a:avLst/>
          </a:prstGeom>
          <a:ln w="22225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187863" y="3739896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48495" y="3337560"/>
            <a:ext cx="2468880" cy="6400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Front-Right Dynamixel RX-24F
KNEE actuator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7019478" y="3657600"/>
            <a:ext cx="2429017" cy="1724558"/>
          </a:xfrm>
          <a:prstGeom prst="line">
            <a:avLst/>
          </a:prstGeom>
          <a:ln w="222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964614" y="5327294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448495" y="4114800"/>
            <a:ext cx="2468880" cy="640080"/>
          </a:xfrm>
          <a:prstGeom prst="roundRect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Upper Leg Link
(red 3D-printed, 32 mm lever)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7147049" y="4434840"/>
            <a:ext cx="2301446" cy="1344168"/>
          </a:xfrm>
          <a:prstGeom prst="line">
            <a:avLst/>
          </a:prstGeom>
          <a:ln w="22225">
            <a:solidFill>
              <a:srgbClr val="F6B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092185" y="5724144"/>
            <a:ext cx="109728" cy="109728"/>
          </a:xfrm>
          <a:prstGeom prst="ellipse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48495" y="4892040"/>
            <a:ext cx="2468880" cy="640080"/>
          </a:xfrm>
          <a:prstGeom prst="roundRect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Rear-Right Hip Joint
(press-fit ball bearings)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7147049" y="5212080"/>
            <a:ext cx="2301446" cy="1133856"/>
          </a:xfrm>
          <a:prstGeom prst="line">
            <a:avLst/>
          </a:prstGeom>
          <a:ln w="22225">
            <a:solidFill>
              <a:srgbClr val="F6B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092185" y="6291072"/>
            <a:ext cx="109728" cy="109728"/>
          </a:xfrm>
          <a:prstGeom prst="ellipse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448495" y="5715000"/>
            <a:ext cx="2468880" cy="640080"/>
          </a:xfrm>
          <a:prstGeom prst="roundRect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Foot Contact Point
(rubberized 3D-printed tip)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285943" y="6035040"/>
            <a:ext cx="3162552" cy="537667"/>
          </a:xfrm>
          <a:prstGeom prst="line">
            <a:avLst/>
          </a:prstGeom>
          <a:ln w="22225">
            <a:solidFill>
              <a:srgbClr val="F6B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231079" y="6517843"/>
            <a:ext cx="109728" cy="109728"/>
          </a:xfrm>
          <a:prstGeom prst="ellipse">
            <a:avLst/>
          </a:prstGeom>
          <a:solidFill>
            <a:srgbClr val="F6B80C"/>
          </a:solidFill>
          <a:ln w="12700">
            <a:solidFill>
              <a:srgbClr val="F6B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44652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Calibri"/>
              </a:rPr>
              <a:t>Color-coded labels — see legend / title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Detail — Humidity Payload &amp; Top 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Sensor, mister diffuser, and battery housing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459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Group 22 • GreenBot</a:t>
            </a:r>
          </a:p>
        </p:txBody>
      </p:sp>
      <p:pic>
        <p:nvPicPr>
          <p:cNvPr id="7" name="Picture 6" descr="up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73" y="960120"/>
            <a:ext cx="5721773" cy="5669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10515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KEY OF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417320"/>
            <a:ext cx="2194560" cy="4114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Mister diffuser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4630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Piezoelectric ultrasonic humidifier head, MOSFET-switched on GPIO 17.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252772" y="1623060"/>
            <a:ext cx="2788108" cy="1264615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197908" y="2832811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0" y="2258568"/>
            <a:ext cx="2194560" cy="411480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SHT40 humidity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30428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Adafruit I²C breakout (SDA = GPIO2, SCL = GPIO3); reads RH and temp at 0.5 Hz.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37288" y="2464308"/>
            <a:ext cx="3703592" cy="2237536"/>
          </a:xfrm>
          <a:prstGeom prst="line">
            <a:avLst/>
          </a:prstGeom>
          <a:ln w="19050">
            <a:solidFill>
              <a:srgbClr val="16A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282424" y="4646980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3099816"/>
            <a:ext cx="2194560" cy="41148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3D-printed top housing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14553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FDM PETG enclosure for Pi + drivers; mounts to red lower chassis.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421804" y="3305556"/>
            <a:ext cx="4619076" cy="205740"/>
          </a:xfrm>
          <a:prstGeom prst="line">
            <a:avLst/>
          </a:prstGeom>
          <a:ln w="19050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366940" y="3456432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40880" y="3941064"/>
            <a:ext cx="2194560" cy="41148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V Li-Ion battery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98678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Visible blue cell pack; powers motor bus and 5 V rail via buck.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3852248" y="1980590"/>
            <a:ext cx="3188632" cy="2166214"/>
          </a:xfrm>
          <a:prstGeom prst="line">
            <a:avLst/>
          </a:prstGeom>
          <a:ln w="19050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797384" y="1925726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40880" y="4782312"/>
            <a:ext cx="2194560" cy="4114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Mister tank 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82803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Bottle + silicone water tube to diffuser; held by clip on chassis.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1277450" y="2660904"/>
            <a:ext cx="5763430" cy="232714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222586" y="260604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40880" y="5623560"/>
            <a:ext cx="2194560" cy="4114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Front Dynamixel motor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56692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RX-24F serial-bus servo, 2.6 N·m stall, 1 Mbaud on /dev/ttyUSB0.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277450" y="5829300"/>
            <a:ext cx="5763430" cy="346557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222586" y="6120993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Detail — Power &amp; Driver Electronics (side panel)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Buck converter, MOSFET driver, motor-bus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459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Group 22 • GreenBot</a:t>
            </a:r>
          </a:p>
        </p:txBody>
      </p:sp>
      <p:pic>
        <p:nvPicPr>
          <p:cNvPr id="7" name="Picture 6" descr="electron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694" y="960120"/>
            <a:ext cx="3291332" cy="5669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0" y="10515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KEY OF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417320"/>
            <a:ext cx="2377440" cy="45720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Raspberry Pi (status LED)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1463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Calibri"/>
              </a:rPr>
              <a:t>Inside acrylic case at top; runs main control loop and SSH/keyboard interface.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3044926" y="1413662"/>
            <a:ext cx="2624354" cy="232258"/>
          </a:xfrm>
          <a:prstGeom prst="line">
            <a:avLst/>
          </a:prstGeom>
          <a:ln w="19050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90062" y="1358798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331720"/>
            <a:ext cx="2377440" cy="45720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V Li-Ion battery (top)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3774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Calibri"/>
              </a:rPr>
              <a:t>Blue cell pack in red 3D-printed housing — feeds motors directly, Pi via buck.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715793" y="2560320"/>
            <a:ext cx="2953487" cy="100584"/>
          </a:xfrm>
          <a:prstGeom prst="line">
            <a:avLst/>
          </a:prstGeom>
          <a:ln w="19050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60929" y="2606040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0" y="3246120"/>
            <a:ext cx="2377440" cy="45720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Buck converter (5 V rail)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2918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Calibri"/>
              </a:rPr>
              <a:t>Green PCB step-down regulator powering the Pi and logic-side electronics.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715793" y="3474720"/>
            <a:ext cx="2953487" cy="886968"/>
          </a:xfrm>
          <a:prstGeom prst="line">
            <a:avLst/>
          </a:prstGeom>
          <a:ln w="19050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660929" y="4306824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0" y="4160520"/>
            <a:ext cx="2377440" cy="45720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MOSFET humidifier 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2062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Calibri"/>
              </a:rPr>
              <a:t>Black PCB; gates 5 V rail to mister via Pi GPIO 17 (PWM not required).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386660" y="4389120"/>
            <a:ext cx="3282620" cy="99303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331796" y="5327294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0" y="5074920"/>
            <a:ext cx="2377440" cy="457200"/>
          </a:xfrm>
          <a:prstGeom prst="roundRect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Screw-terminal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51206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Calibri"/>
              </a:rPr>
              <a:t>Yellow ferrules + screw block carry battery &amp; motor power to drivers.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3374059" y="4078224"/>
            <a:ext cx="2295221" cy="1225296"/>
          </a:xfrm>
          <a:prstGeom prst="line">
            <a:avLst/>
          </a:prstGeom>
          <a:ln w="19050">
            <a:solidFill>
              <a:srgbClr val="2E4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319195" y="4023360"/>
            <a:ext cx="109728" cy="109728"/>
          </a:xfrm>
          <a:prstGeom prst="ellipse">
            <a:avLst/>
          </a:prstGeom>
          <a:solidFill>
            <a:srgbClr val="2E4B8E"/>
          </a:solidFill>
          <a:ln w="12700">
            <a:solidFill>
              <a:srgbClr val="2E4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6126480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Reference: Components List + FINAL REPORT.docx (Group 22). Edit labels and arrow positions as needed before pasting screenshots into the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