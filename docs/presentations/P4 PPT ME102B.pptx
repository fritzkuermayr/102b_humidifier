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ewsreader"/>
      <p:regular r:id="rId12"/>
      <p:bold r:id="rId13"/>
      <p:italic r:id="rId14"/>
      <p:boldItalic r:id="rId15"/>
    </p:embeddedFont>
    <p:embeddedFont>
      <p:font typeface="Newsreader Light"/>
      <p:regular r:id="rId16"/>
      <p:bold r:id="rId17"/>
      <p:italic r:id="rId18"/>
      <p:boldItalic r:id="rId19"/>
    </p:embeddedFont>
    <p:embeddedFont>
      <p:font typeface="DM Sans Light"/>
      <p:regular r:id="rId20"/>
      <p:bold r:id="rId21"/>
      <p:italic r:id="rId22"/>
      <p:boldItalic r:id="rId23"/>
    </p:embeddedFont>
    <p:embeddedFont>
      <p:font typeface="DM Sans SemiBold"/>
      <p:regular r:id="rId24"/>
      <p:bold r:id="rId25"/>
      <p:italic r:id="rId26"/>
      <p:boldItalic r:id="rId27"/>
    </p:embeddedFont>
    <p:embeddedFont>
      <p:font typeface="DM Sans"/>
      <p:regular r:id="rId28"/>
      <p:bold r:id="rId29"/>
      <p:italic r:id="rId30"/>
      <p:boldItalic r:id="rId31"/>
    </p:embeddedFont>
    <p:embeddedFont>
      <p:font typeface="Newsreader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boldItalic.fntdata"/><Relationship Id="rId30" Type="http://schemas.openxmlformats.org/officeDocument/2006/relationships/font" Target="fonts/DMSans-italic.fntdata"/><Relationship Id="rId33" Type="http://schemas.openxmlformats.org/officeDocument/2006/relationships/font" Target="fonts/NewsreaderSemiBold-bold.fntdata"/><Relationship Id="rId32" Type="http://schemas.openxmlformats.org/officeDocument/2006/relationships/font" Target="fonts/NewsreaderSemiBold-regular.fntdata"/><Relationship Id="rId35" Type="http://schemas.openxmlformats.org/officeDocument/2006/relationships/font" Target="fonts/NewsreaderSemiBold-boldItalic.fntdata"/><Relationship Id="rId34" Type="http://schemas.openxmlformats.org/officeDocument/2006/relationships/font" Target="fonts/NewsreaderSemiBold-italic.fntdata"/><Relationship Id="rId20" Type="http://schemas.openxmlformats.org/officeDocument/2006/relationships/font" Target="fonts/DMSansLight-regular.fntdata"/><Relationship Id="rId22" Type="http://schemas.openxmlformats.org/officeDocument/2006/relationships/font" Target="fonts/DMSansLight-italic.fntdata"/><Relationship Id="rId21" Type="http://schemas.openxmlformats.org/officeDocument/2006/relationships/font" Target="fonts/DMSansLight-bold.fntdata"/><Relationship Id="rId24" Type="http://schemas.openxmlformats.org/officeDocument/2006/relationships/font" Target="fonts/DMSansSemiBold-regular.fntdata"/><Relationship Id="rId23" Type="http://schemas.openxmlformats.org/officeDocument/2006/relationships/font" Target="fonts/DMSansLight-boldItalic.fntdata"/><Relationship Id="rId26" Type="http://schemas.openxmlformats.org/officeDocument/2006/relationships/font" Target="fonts/DMSansSemiBold-italic.fntdata"/><Relationship Id="rId25" Type="http://schemas.openxmlformats.org/officeDocument/2006/relationships/font" Target="fonts/DMSansSemiBold-bold.fntdata"/><Relationship Id="rId28" Type="http://schemas.openxmlformats.org/officeDocument/2006/relationships/font" Target="fonts/DMSans-regular.fntdata"/><Relationship Id="rId27" Type="http://schemas.openxmlformats.org/officeDocument/2006/relationships/font" Target="fonts/DMSansSemiBold-boldItalic.fntdata"/><Relationship Id="rId29" Type="http://schemas.openxmlformats.org/officeDocument/2006/relationships/font" Target="fonts/DMSan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ewsreader-bold.fntdata"/><Relationship Id="rId12" Type="http://schemas.openxmlformats.org/officeDocument/2006/relationships/font" Target="fonts/Newsreader-regular.fntdata"/><Relationship Id="rId15" Type="http://schemas.openxmlformats.org/officeDocument/2006/relationships/font" Target="fonts/Newsreader-boldItalic.fntdata"/><Relationship Id="rId14" Type="http://schemas.openxmlformats.org/officeDocument/2006/relationships/font" Target="fonts/Newsreader-italic.fntdata"/><Relationship Id="rId17" Type="http://schemas.openxmlformats.org/officeDocument/2006/relationships/font" Target="fonts/NewsreaderLight-bold.fntdata"/><Relationship Id="rId16" Type="http://schemas.openxmlformats.org/officeDocument/2006/relationships/font" Target="fonts/NewsreaderLight-regular.fntdata"/><Relationship Id="rId19" Type="http://schemas.openxmlformats.org/officeDocument/2006/relationships/font" Target="fonts/NewsreaderLight-boldItalic.fntdata"/><Relationship Id="rId18" Type="http://schemas.openxmlformats.org/officeDocument/2006/relationships/font" Target="fonts/Newsreader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c68c6142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c68c6142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c68c6142a2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c68c6142a2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ESP 32 receives humidity data from the sensor and sends a control signal to a relay or MOSFET, which switches the misting on or off using external power.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c5ca48b25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c5ca48b25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5ca48b25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c5ca48b25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c5ca48b25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c5ca48b25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c5ca48b25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c5ca48b25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9" name="Shape 9"/>
        <p:cNvGrpSpPr/>
        <p:nvPr/>
      </p:nvGrpSpPr>
      <p:grpSpPr>
        <a:xfrm>
          <a:off x="0" y="0"/>
          <a:ext cx="0" cy="0"/>
          <a:chOff x="0" y="0"/>
          <a:chExt cx="0" cy="0"/>
        </a:xfrm>
      </p:grpSpPr>
      <p:sp>
        <p:nvSpPr>
          <p:cNvPr id="10" name="Google Shape;10;p2"/>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1" name="Google Shape;11;p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3" name="Shape 13"/>
        <p:cNvGrpSpPr/>
        <p:nvPr/>
      </p:nvGrpSpPr>
      <p:grpSpPr>
        <a:xfrm>
          <a:off x="0" y="0"/>
          <a:ext cx="0" cy="0"/>
          <a:chOff x="0" y="0"/>
          <a:chExt cx="0" cy="0"/>
        </a:xfrm>
      </p:grpSpPr>
      <p:sp>
        <p:nvSpPr>
          <p:cNvPr id="14" name="Google Shape;14;p3"/>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15" name="Google Shape;15;p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7" name="Google Shape;17;p3"/>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1" name="Shape 21"/>
        <p:cNvGrpSpPr/>
        <p:nvPr/>
      </p:nvGrpSpPr>
      <p:grpSpPr>
        <a:xfrm>
          <a:off x="0" y="0"/>
          <a:ext cx="0" cy="0"/>
          <a:chOff x="0" y="0"/>
          <a:chExt cx="0" cy="0"/>
        </a:xfrm>
      </p:grpSpPr>
      <p:sp>
        <p:nvSpPr>
          <p:cNvPr id="22" name="Google Shape;22;p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4"/>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4" name="Google Shape;24;p4"/>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 name="Google Shape;28;p5"/>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 name="Google Shape;29;p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1" name="Google Shape;31;p5"/>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 name="Google Shape;33;p5"/>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4" name="Google Shape;34;p5"/>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5" name="Google Shape;35;p5"/>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36" name="Shape 36"/>
        <p:cNvGrpSpPr/>
        <p:nvPr/>
      </p:nvGrpSpPr>
      <p:grpSpPr>
        <a:xfrm>
          <a:off x="0" y="0"/>
          <a:ext cx="0" cy="0"/>
          <a:chOff x="0" y="0"/>
          <a:chExt cx="0" cy="0"/>
        </a:xfrm>
      </p:grpSpPr>
      <p:sp>
        <p:nvSpPr>
          <p:cNvPr id="37" name="Google Shape;37;p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38" name="Google Shape;38;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40" name="Google Shape;40;p6"/>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1" name="Google Shape;41;p6"/>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42" name="Google Shape;42;p6"/>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3" name="Google Shape;43;p6"/>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44" name="Google Shape;44;p6"/>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5" name="Google Shape;45;p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46" name="Google Shape;46;p6"/>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47" name="Shape 47"/>
        <p:cNvGrpSpPr/>
        <p:nvPr/>
      </p:nvGrpSpPr>
      <p:grpSpPr>
        <a:xfrm>
          <a:off x="0" y="0"/>
          <a:ext cx="0" cy="0"/>
          <a:chOff x="0" y="0"/>
          <a:chExt cx="0" cy="0"/>
        </a:xfrm>
      </p:grpSpPr>
      <p:sp>
        <p:nvSpPr>
          <p:cNvPr id="48" name="Google Shape;48;p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50" name="Google Shape;50;p7"/>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1" name="Google Shape;51;p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2" name="Google Shape;52;p7"/>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54" name="Google Shape;54;p7"/>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5" name="Google Shape;55;p7"/>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6" name="Google Shape;56;p7"/>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7" name="Google Shape;57;p7"/>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58" name="Shape 58"/>
        <p:cNvGrpSpPr/>
        <p:nvPr/>
      </p:nvGrpSpPr>
      <p:grpSpPr>
        <a:xfrm>
          <a:off x="0" y="0"/>
          <a:ext cx="0" cy="0"/>
          <a:chOff x="0" y="0"/>
          <a:chExt cx="0" cy="0"/>
        </a:xfrm>
      </p:grpSpPr>
      <p:sp>
        <p:nvSpPr>
          <p:cNvPr id="59" name="Google Shape;59;p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 name="Google Shape;61;p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62" name="Google Shape;62;p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3" name="Google Shape;63;p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64" name="Google Shape;64;p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5" name="Google Shape;65;p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66" name="Google Shape;66;p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7" name="Google Shape;67;p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68" name="Google Shape;68;p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69" name="Shape 69"/>
        <p:cNvGrpSpPr/>
        <p:nvPr/>
      </p:nvGrpSpPr>
      <p:grpSpPr>
        <a:xfrm>
          <a:off x="0" y="0"/>
          <a:ext cx="0" cy="0"/>
          <a:chOff x="0" y="0"/>
          <a:chExt cx="0" cy="0"/>
        </a:xfrm>
      </p:grpSpPr>
      <p:sp>
        <p:nvSpPr>
          <p:cNvPr id="70" name="Google Shape;70;p9"/>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1" name="Google Shape;71;p9"/>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2" name="Google Shape;72;p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4" name="Google Shape;74;p9"/>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75" name="Google Shape;75;p9"/>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6" name="Google Shape;76;p9"/>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77" name="Google Shape;77;p9"/>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9"/>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79" name="Google Shape;79;p9"/>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0" name="Google Shape;80;p9"/>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1" name="Google Shape;81;p9"/>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2" name="Shape 82"/>
        <p:cNvGrpSpPr/>
        <p:nvPr/>
      </p:nvGrpSpPr>
      <p:grpSpPr>
        <a:xfrm>
          <a:off x="0" y="0"/>
          <a:ext cx="0" cy="0"/>
          <a:chOff x="0" y="0"/>
          <a:chExt cx="0" cy="0"/>
        </a:xfrm>
      </p:grpSpPr>
      <p:sp>
        <p:nvSpPr>
          <p:cNvPr id="83" name="Google Shape;83;p1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0"/>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86" name="Google Shape;86;p10"/>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7" name="Google Shape;87;p10"/>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88" name="Google Shape;88;p10"/>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89" name="Google Shape;89;p10"/>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0" name="Google Shape;90;p10"/>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1" name="Google Shape;91;p10"/>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2" name="Google Shape;92;p10"/>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3" name="Google Shape;93;p10"/>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10"/>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5" name="Google Shape;95;p10"/>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10"/>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97" name="Shape 97"/>
        <p:cNvGrpSpPr/>
        <p:nvPr/>
      </p:nvGrpSpPr>
      <p:grpSpPr>
        <a:xfrm>
          <a:off x="0" y="0"/>
          <a:ext cx="0" cy="0"/>
          <a:chOff x="0" y="0"/>
          <a:chExt cx="0" cy="0"/>
        </a:xfrm>
      </p:grpSpPr>
      <p:sp>
        <p:nvSpPr>
          <p:cNvPr id="98" name="Google Shape;98;p1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0" name="Google Shape;100;p11"/>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1" name="Google Shape;101;p11"/>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2" name="Google Shape;102;p11"/>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3" name="Google Shape;103;p11"/>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4" name="Google Shape;104;p11"/>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5" name="Google Shape;105;p11"/>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6" name="Google Shape;106;p11"/>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11"/>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11"/>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11"/>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11"/>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11"/>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11"/>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3" name="Google Shape;113;p11"/>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12"/>
          <p:cNvSpPr/>
          <p:nvPr>
            <p:ph idx="2" type="pic"/>
          </p:nvPr>
        </p:nvSpPr>
        <p:spPr>
          <a:xfrm>
            <a:off x="4587725" y="-8750"/>
            <a:ext cx="4572000" cy="5152200"/>
          </a:xfrm>
          <a:prstGeom prst="rect">
            <a:avLst/>
          </a:prstGeom>
          <a:noFill/>
          <a:ln>
            <a:noFill/>
          </a:ln>
        </p:spPr>
      </p:sp>
      <p:sp>
        <p:nvSpPr>
          <p:cNvPr id="116" name="Google Shape;116;p12"/>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17" name="Google Shape;117;p12"/>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18" name="Google Shape;118;p12"/>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19" name="Shape 119"/>
        <p:cNvGrpSpPr/>
        <p:nvPr/>
      </p:nvGrpSpPr>
      <p:grpSpPr>
        <a:xfrm>
          <a:off x="0" y="0"/>
          <a:ext cx="0" cy="0"/>
          <a:chOff x="0" y="0"/>
          <a:chExt cx="0" cy="0"/>
        </a:xfrm>
      </p:grpSpPr>
      <p:sp>
        <p:nvSpPr>
          <p:cNvPr id="120" name="Google Shape;120;p1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2" name="Google Shape;122;p13"/>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3" name="Google Shape;123;p13"/>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4" name="Google Shape;124;p13"/>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5" name="Google Shape;125;p13"/>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26" name="Google Shape;126;p13"/>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27" name="Google Shape;127;p13"/>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28" name="Google Shape;128;p13"/>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29" name="Google Shape;129;p13"/>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30" name="Google Shape;130;p13"/>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1" name="Google Shape;131;p13"/>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3"/>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3" name="Google Shape;133;p13"/>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13"/>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35" name="Google Shape;135;p13"/>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3"/>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7" name="Google Shape;137;p13"/>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3"/>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39" name="Shape 139"/>
        <p:cNvGrpSpPr/>
        <p:nvPr/>
      </p:nvGrpSpPr>
      <p:grpSpPr>
        <a:xfrm>
          <a:off x="0" y="0"/>
          <a:ext cx="0" cy="0"/>
          <a:chOff x="0" y="0"/>
          <a:chExt cx="0" cy="0"/>
        </a:xfrm>
      </p:grpSpPr>
      <p:sp>
        <p:nvSpPr>
          <p:cNvPr id="140" name="Google Shape;14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14"/>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43" name="Google Shape;143;p14"/>
          <p:cNvSpPr/>
          <p:nvPr>
            <p:ph idx="2" type="pic"/>
          </p:nvPr>
        </p:nvSpPr>
        <p:spPr>
          <a:xfrm>
            <a:off x="1442350" y="3492500"/>
            <a:ext cx="408900" cy="408900"/>
          </a:xfrm>
          <a:prstGeom prst="ellipse">
            <a:avLst/>
          </a:prstGeom>
          <a:noFill/>
          <a:ln>
            <a:noFill/>
          </a:ln>
        </p:spPr>
      </p:sp>
      <p:sp>
        <p:nvSpPr>
          <p:cNvPr id="144" name="Google Shape;144;p14"/>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45" name="Google Shape;145;p14"/>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46" name="Shape 146"/>
        <p:cNvGrpSpPr/>
        <p:nvPr/>
      </p:nvGrpSpPr>
      <p:grpSpPr>
        <a:xfrm>
          <a:off x="0" y="0"/>
          <a:ext cx="0" cy="0"/>
          <a:chOff x="0" y="0"/>
          <a:chExt cx="0" cy="0"/>
        </a:xfrm>
      </p:grpSpPr>
      <p:sp>
        <p:nvSpPr>
          <p:cNvPr id="147" name="Google Shape;14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9" name="Google Shape;149;p15"/>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50" name="Google Shape;150;p15"/>
          <p:cNvSpPr/>
          <p:nvPr>
            <p:ph idx="2" type="pic"/>
          </p:nvPr>
        </p:nvSpPr>
        <p:spPr>
          <a:xfrm>
            <a:off x="1442350" y="3492500"/>
            <a:ext cx="408900" cy="408900"/>
          </a:xfrm>
          <a:prstGeom prst="ellipse">
            <a:avLst/>
          </a:prstGeom>
          <a:noFill/>
          <a:ln>
            <a:noFill/>
          </a:ln>
        </p:spPr>
      </p:sp>
      <p:sp>
        <p:nvSpPr>
          <p:cNvPr id="151" name="Google Shape;151;p15"/>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2" name="Google Shape;152;p15"/>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3" name="Shape 153"/>
        <p:cNvGrpSpPr/>
        <p:nvPr/>
      </p:nvGrpSpPr>
      <p:grpSpPr>
        <a:xfrm>
          <a:off x="0" y="0"/>
          <a:ext cx="0" cy="0"/>
          <a:chOff x="0" y="0"/>
          <a:chExt cx="0" cy="0"/>
        </a:xfrm>
      </p:grpSpPr>
      <p:sp>
        <p:nvSpPr>
          <p:cNvPr id="154" name="Google Shape;154;p1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16"/>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56" name="Google Shape;156;p16"/>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7" name="Google Shape;157;p16"/>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8" name="Google Shape;158;p16"/>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159" name="Google Shape;159;p16"/>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0" name="Google Shape;160;p16"/>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1" name="Google Shape;161;p16"/>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62" name="Google Shape;162;p16"/>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163" name="Google Shape;163;p16"/>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4" name="Google Shape;164;p16"/>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65" name="Google Shape;165;p16"/>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66" name="Shape 166"/>
        <p:cNvGrpSpPr/>
        <p:nvPr/>
      </p:nvGrpSpPr>
      <p:grpSpPr>
        <a:xfrm>
          <a:off x="0" y="0"/>
          <a:ext cx="0" cy="0"/>
          <a:chOff x="0" y="0"/>
          <a:chExt cx="0" cy="0"/>
        </a:xfrm>
      </p:grpSpPr>
      <p:sp>
        <p:nvSpPr>
          <p:cNvPr id="167" name="Google Shape;167;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8" name="Google Shape;168;p17"/>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69" name="Google Shape;169;p17"/>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17"/>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17"/>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2" name="Google Shape;172;p17"/>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73" name="Google Shape;173;p17"/>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74" name="Google Shape;174;p17"/>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5" name="Google Shape;175;p17"/>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6" name="Google Shape;176;p17"/>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17"/>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78" name="Google Shape;178;p17"/>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79" name="Google Shape;179;p17"/>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80" name="Google Shape;180;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1" name="Shape 181"/>
        <p:cNvGrpSpPr/>
        <p:nvPr/>
      </p:nvGrpSpPr>
      <p:grpSpPr>
        <a:xfrm>
          <a:off x="0" y="0"/>
          <a:ext cx="0" cy="0"/>
          <a:chOff x="0" y="0"/>
          <a:chExt cx="0" cy="0"/>
        </a:xfrm>
      </p:grpSpPr>
      <p:sp>
        <p:nvSpPr>
          <p:cNvPr id="182" name="Google Shape;182;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3" name="Google Shape;183;p1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4" name="Google Shape;184;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18"/>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186" name="Google Shape;186;p18"/>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187" name="Google Shape;187;p18"/>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188" name="Google Shape;188;p18"/>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89" name="Google Shape;189;p18"/>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0" name="Shape 190"/>
        <p:cNvGrpSpPr/>
        <p:nvPr/>
      </p:nvGrpSpPr>
      <p:grpSpPr>
        <a:xfrm>
          <a:off x="0" y="0"/>
          <a:ext cx="0" cy="0"/>
          <a:chOff x="0" y="0"/>
          <a:chExt cx="0" cy="0"/>
        </a:xfrm>
      </p:grpSpPr>
      <p:sp>
        <p:nvSpPr>
          <p:cNvPr id="191" name="Google Shape;191;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9"/>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195" name="Shape 195"/>
        <p:cNvGrpSpPr/>
        <p:nvPr/>
      </p:nvGrpSpPr>
      <p:grpSpPr>
        <a:xfrm>
          <a:off x="0" y="0"/>
          <a:ext cx="0" cy="0"/>
          <a:chOff x="0" y="0"/>
          <a:chExt cx="0" cy="0"/>
        </a:xfrm>
      </p:grpSpPr>
      <p:sp>
        <p:nvSpPr>
          <p:cNvPr id="196" name="Google Shape;196;p20"/>
          <p:cNvSpPr/>
          <p:nvPr>
            <p:ph idx="2" type="pic"/>
          </p:nvPr>
        </p:nvSpPr>
        <p:spPr>
          <a:xfrm>
            <a:off x="6289075" y="1793300"/>
            <a:ext cx="2853300" cy="3350400"/>
          </a:xfrm>
          <a:prstGeom prst="rect">
            <a:avLst/>
          </a:prstGeom>
          <a:noFill/>
          <a:ln>
            <a:noFill/>
          </a:ln>
        </p:spPr>
      </p:sp>
      <p:sp>
        <p:nvSpPr>
          <p:cNvPr id="197" name="Google Shape;197;p20"/>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198" name="Google Shape;198;p20"/>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199" name="Google Shape;199;p20"/>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0" name="Google Shape;200;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2" name="Shape 202"/>
        <p:cNvGrpSpPr/>
        <p:nvPr/>
      </p:nvGrpSpPr>
      <p:grpSpPr>
        <a:xfrm>
          <a:off x="0" y="0"/>
          <a:ext cx="0" cy="0"/>
          <a:chOff x="0" y="0"/>
          <a:chExt cx="0" cy="0"/>
        </a:xfrm>
      </p:grpSpPr>
      <p:sp>
        <p:nvSpPr>
          <p:cNvPr id="203" name="Google Shape;203;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21"/>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21"/>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07" name="Google Shape;207;p21"/>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08" name="Google Shape;208;p21"/>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09" name="Shape 209"/>
        <p:cNvGrpSpPr/>
        <p:nvPr/>
      </p:nvGrpSpPr>
      <p:grpSpPr>
        <a:xfrm>
          <a:off x="0" y="0"/>
          <a:ext cx="0" cy="0"/>
          <a:chOff x="0" y="0"/>
          <a:chExt cx="0" cy="0"/>
        </a:xfrm>
      </p:grpSpPr>
      <p:sp>
        <p:nvSpPr>
          <p:cNvPr id="210" name="Google Shape;210;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2"/>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13" name="Google Shape;213;p22"/>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14" name="Google Shape;214;p22"/>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23"/>
          <p:cNvSpPr/>
          <p:nvPr>
            <p:ph idx="2" type="pic"/>
          </p:nvPr>
        </p:nvSpPr>
        <p:spPr>
          <a:xfrm>
            <a:off x="361975" y="781775"/>
            <a:ext cx="2872800" cy="3783300"/>
          </a:xfrm>
          <a:prstGeom prst="rect">
            <a:avLst/>
          </a:prstGeom>
          <a:noFill/>
          <a:ln>
            <a:noFill/>
          </a:ln>
        </p:spPr>
      </p:sp>
      <p:sp>
        <p:nvSpPr>
          <p:cNvPr id="217" name="Google Shape;217;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9" name="Google Shape;219;p23"/>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23"/>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21" name="Google Shape;221;p23"/>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24"/>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24" name="Google Shape;22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24"/>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27" name="Google Shape;227;p24"/>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24"/>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29" name="Google Shape;229;p24"/>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25"/>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32" name="Google Shape;232;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25"/>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25"/>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26"/>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8" name="Google Shape;238;p26"/>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39" name="Google Shape;239;p26"/>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40" name="Google Shape;240;p26"/>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1" name="Google Shape;241;p26"/>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4" name="Google Shape;244;p26"/>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45" name="Google Shape;245;p26"/>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6" name="Google Shape;246;p26"/>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26"/>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48" name="Google Shape;248;p26"/>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26"/>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0" name="Google Shape;250;p26"/>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26"/>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2" name="Google Shape;252;p26"/>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26"/>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54" name="Google Shape;254;p26"/>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27"/>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27"/>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27"/>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27"/>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60" name="Google Shape;260;p27"/>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27"/>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7"/>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27"/>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27"/>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27"/>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27"/>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27"/>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28"/>
          <p:cNvSpPr/>
          <p:nvPr>
            <p:ph idx="2" type="pic"/>
          </p:nvPr>
        </p:nvSpPr>
        <p:spPr>
          <a:xfrm>
            <a:off x="75" y="0"/>
            <a:ext cx="2853300" cy="2436600"/>
          </a:xfrm>
          <a:prstGeom prst="rect">
            <a:avLst/>
          </a:prstGeom>
          <a:noFill/>
          <a:ln>
            <a:noFill/>
          </a:ln>
        </p:spPr>
      </p:sp>
      <p:sp>
        <p:nvSpPr>
          <p:cNvPr id="271" name="Google Shape;271;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28"/>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29"/>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29"/>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29"/>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29"/>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29"/>
          <p:cNvSpPr/>
          <p:nvPr>
            <p:ph idx="5" type="pic"/>
          </p:nvPr>
        </p:nvSpPr>
        <p:spPr>
          <a:xfrm>
            <a:off x="2941550" y="1923334"/>
            <a:ext cx="991800" cy="991800"/>
          </a:xfrm>
          <a:prstGeom prst="rect">
            <a:avLst/>
          </a:prstGeom>
          <a:noFill/>
          <a:ln>
            <a:noFill/>
          </a:ln>
        </p:spPr>
      </p:sp>
      <p:sp>
        <p:nvSpPr>
          <p:cNvPr id="279" name="Google Shape;279;p29"/>
          <p:cNvSpPr/>
          <p:nvPr>
            <p:ph idx="6" type="pic"/>
          </p:nvPr>
        </p:nvSpPr>
        <p:spPr>
          <a:xfrm>
            <a:off x="5227063" y="1923334"/>
            <a:ext cx="991800" cy="991800"/>
          </a:xfrm>
          <a:prstGeom prst="rect">
            <a:avLst/>
          </a:prstGeom>
          <a:noFill/>
          <a:ln>
            <a:noFill/>
          </a:ln>
        </p:spPr>
      </p:sp>
      <p:sp>
        <p:nvSpPr>
          <p:cNvPr id="280" name="Google Shape;280;p29"/>
          <p:cNvSpPr/>
          <p:nvPr>
            <p:ph idx="7" type="pic"/>
          </p:nvPr>
        </p:nvSpPr>
        <p:spPr>
          <a:xfrm>
            <a:off x="7495263" y="1923334"/>
            <a:ext cx="991800" cy="991800"/>
          </a:xfrm>
          <a:prstGeom prst="rect">
            <a:avLst/>
          </a:prstGeom>
          <a:noFill/>
          <a:ln>
            <a:noFill/>
          </a:ln>
        </p:spPr>
      </p:sp>
      <p:cxnSp>
        <p:nvCxnSpPr>
          <p:cNvPr id="281" name="Google Shape;281;p29"/>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2" name="Google Shape;282;p29"/>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29"/>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284" name="Google Shape;284;p29"/>
          <p:cNvSpPr/>
          <p:nvPr>
            <p:ph idx="8" type="pic"/>
          </p:nvPr>
        </p:nvSpPr>
        <p:spPr>
          <a:xfrm>
            <a:off x="651288" y="1923334"/>
            <a:ext cx="991800" cy="991800"/>
          </a:xfrm>
          <a:prstGeom prst="rect">
            <a:avLst/>
          </a:prstGeom>
          <a:noFill/>
          <a:ln>
            <a:noFill/>
          </a:ln>
        </p:spPr>
      </p:sp>
      <p:sp>
        <p:nvSpPr>
          <p:cNvPr id="285" name="Google Shape;285;p29"/>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86" name="Google Shape;286;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29"/>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8" name="Google Shape;288;p29"/>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89" name="Google Shape;289;p29"/>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0" name="Google Shape;290;p29"/>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29"/>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2" name="Google Shape;292;p29"/>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3" name="Google Shape;293;p29"/>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29"/>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5" name="Google Shape;295;p29"/>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6" name="Google Shape;296;p29"/>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29"/>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298" name="Google Shape;298;p29"/>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299" name="Google Shape;299;p29"/>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30"/>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2" name="Google Shape;302;p30"/>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30"/>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30"/>
          <p:cNvSpPr/>
          <p:nvPr>
            <p:ph idx="4" type="pic"/>
          </p:nvPr>
        </p:nvSpPr>
        <p:spPr>
          <a:xfrm>
            <a:off x="6080709" y="1066100"/>
            <a:ext cx="530400" cy="530400"/>
          </a:xfrm>
          <a:prstGeom prst="rect">
            <a:avLst/>
          </a:prstGeom>
          <a:noFill/>
          <a:ln>
            <a:noFill/>
          </a:ln>
        </p:spPr>
      </p:sp>
      <p:sp>
        <p:nvSpPr>
          <p:cNvPr id="305" name="Google Shape;305;p30"/>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06" name="Google Shape;306;p30"/>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30"/>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30"/>
          <p:cNvSpPr/>
          <p:nvPr>
            <p:ph idx="8" type="pic"/>
          </p:nvPr>
        </p:nvSpPr>
        <p:spPr>
          <a:xfrm>
            <a:off x="3154659" y="1066100"/>
            <a:ext cx="530400" cy="530400"/>
          </a:xfrm>
          <a:prstGeom prst="rect">
            <a:avLst/>
          </a:prstGeom>
          <a:noFill/>
          <a:ln>
            <a:noFill/>
          </a:ln>
        </p:spPr>
      </p:sp>
      <p:sp>
        <p:nvSpPr>
          <p:cNvPr id="309" name="Google Shape;309;p30"/>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0" name="Google Shape;310;p30"/>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30"/>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30"/>
          <p:cNvSpPr/>
          <p:nvPr>
            <p:ph idx="15" type="pic"/>
          </p:nvPr>
        </p:nvSpPr>
        <p:spPr>
          <a:xfrm>
            <a:off x="6080709" y="1975864"/>
            <a:ext cx="530400" cy="530400"/>
          </a:xfrm>
          <a:prstGeom prst="rect">
            <a:avLst/>
          </a:prstGeom>
          <a:noFill/>
          <a:ln>
            <a:noFill/>
          </a:ln>
        </p:spPr>
      </p:sp>
      <p:sp>
        <p:nvSpPr>
          <p:cNvPr id="313" name="Google Shape;313;p30"/>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4" name="Google Shape;314;p30"/>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5" name="Google Shape;315;p30"/>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30"/>
          <p:cNvSpPr/>
          <p:nvPr>
            <p:ph idx="19" type="pic"/>
          </p:nvPr>
        </p:nvSpPr>
        <p:spPr>
          <a:xfrm>
            <a:off x="3154659" y="1975864"/>
            <a:ext cx="530400" cy="530400"/>
          </a:xfrm>
          <a:prstGeom prst="rect">
            <a:avLst/>
          </a:prstGeom>
          <a:noFill/>
          <a:ln>
            <a:noFill/>
          </a:ln>
        </p:spPr>
      </p:sp>
      <p:sp>
        <p:nvSpPr>
          <p:cNvPr id="317" name="Google Shape;317;p30"/>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18" name="Google Shape;318;p30"/>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9" name="Google Shape;319;p30"/>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30"/>
          <p:cNvSpPr/>
          <p:nvPr>
            <p:ph idx="23" type="pic"/>
          </p:nvPr>
        </p:nvSpPr>
        <p:spPr>
          <a:xfrm>
            <a:off x="6080709" y="2883852"/>
            <a:ext cx="530400" cy="530400"/>
          </a:xfrm>
          <a:prstGeom prst="rect">
            <a:avLst/>
          </a:prstGeom>
          <a:noFill/>
          <a:ln>
            <a:noFill/>
          </a:ln>
        </p:spPr>
      </p:sp>
      <p:sp>
        <p:nvSpPr>
          <p:cNvPr id="321" name="Google Shape;321;p30"/>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2" name="Google Shape;322;p30"/>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3" name="Google Shape;323;p30"/>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30"/>
          <p:cNvSpPr/>
          <p:nvPr>
            <p:ph idx="27" type="pic"/>
          </p:nvPr>
        </p:nvSpPr>
        <p:spPr>
          <a:xfrm>
            <a:off x="3154659" y="2883852"/>
            <a:ext cx="530400" cy="530400"/>
          </a:xfrm>
          <a:prstGeom prst="rect">
            <a:avLst/>
          </a:prstGeom>
          <a:noFill/>
          <a:ln>
            <a:noFill/>
          </a:ln>
        </p:spPr>
      </p:sp>
      <p:sp>
        <p:nvSpPr>
          <p:cNvPr id="325" name="Google Shape;325;p30"/>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26" name="Google Shape;326;p30"/>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7" name="Google Shape;327;p30"/>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30"/>
          <p:cNvSpPr/>
          <p:nvPr>
            <p:ph idx="31" type="pic"/>
          </p:nvPr>
        </p:nvSpPr>
        <p:spPr>
          <a:xfrm>
            <a:off x="6080709" y="3805056"/>
            <a:ext cx="530400" cy="530400"/>
          </a:xfrm>
          <a:prstGeom prst="rect">
            <a:avLst/>
          </a:prstGeom>
          <a:noFill/>
          <a:ln>
            <a:noFill/>
          </a:ln>
        </p:spPr>
      </p:sp>
      <p:sp>
        <p:nvSpPr>
          <p:cNvPr id="329" name="Google Shape;329;p30"/>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0" name="Google Shape;330;p30"/>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31" name="Google Shape;331;p30"/>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30"/>
          <p:cNvSpPr/>
          <p:nvPr>
            <p:ph idx="35" type="pic"/>
          </p:nvPr>
        </p:nvSpPr>
        <p:spPr>
          <a:xfrm>
            <a:off x="3154659" y="3805056"/>
            <a:ext cx="530400" cy="530400"/>
          </a:xfrm>
          <a:prstGeom prst="rect">
            <a:avLst/>
          </a:prstGeom>
          <a:noFill/>
          <a:ln>
            <a:noFill/>
          </a:ln>
        </p:spPr>
      </p:sp>
      <p:sp>
        <p:nvSpPr>
          <p:cNvPr id="333" name="Google Shape;333;p30"/>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4" name="Google Shape;334;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0"/>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38" name="Google Shape;338;p31"/>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39" name="Google Shape;339;p31"/>
          <p:cNvSpPr/>
          <p:nvPr>
            <p:ph idx="2" type="pic"/>
          </p:nvPr>
        </p:nvSpPr>
        <p:spPr>
          <a:xfrm flipH="1">
            <a:off x="953803" y="1066100"/>
            <a:ext cx="2664300" cy="3002700"/>
          </a:xfrm>
          <a:prstGeom prst="rect">
            <a:avLst/>
          </a:prstGeom>
          <a:noFill/>
          <a:ln>
            <a:noFill/>
          </a:ln>
        </p:spPr>
      </p:sp>
      <p:sp>
        <p:nvSpPr>
          <p:cNvPr id="340" name="Google Shape;340;p31"/>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31"/>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31"/>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31"/>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45" name="Google Shape;345;p31"/>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32"/>
          <p:cNvGrpSpPr/>
          <p:nvPr/>
        </p:nvGrpSpPr>
        <p:grpSpPr>
          <a:xfrm>
            <a:off x="49" y="514398"/>
            <a:ext cx="9144297" cy="4115162"/>
            <a:chOff x="-18500" y="514395"/>
            <a:chExt cx="9219900" cy="4115162"/>
          </a:xfrm>
        </p:grpSpPr>
        <p:cxnSp>
          <p:nvCxnSpPr>
            <p:cNvPr id="348" name="Google Shape;348;p32"/>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49" name="Google Shape;349;p32"/>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0" name="Google Shape;350;p32"/>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1" name="Google Shape;351;p32"/>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2" name="Google Shape;352;p32"/>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3" name="Google Shape;353;p32"/>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4" name="Google Shape;354;p32"/>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5" name="Google Shape;355;p32"/>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56" name="Google Shape;356;p32"/>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357" name="Google Shape;357;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3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32"/>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33"/>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2" name="Google Shape;362;p33"/>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363" name="Google Shape;363;p33"/>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66" name="Google Shape;366;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4" name="Google Shape;374;p3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37"/>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0" name="Google Shape;380;p3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4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4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5" name="Google Shape;385;p4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6" name="Google Shape;386;p4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4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4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1" name="Google Shape;391;p4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4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4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8" name="Google Shape;408;p4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9" name="Google Shape;409;p4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0" name="Google Shape;410;p4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4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4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4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5" name="Google Shape;415;p4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4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4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1" name="Google Shape;421;p4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4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5" name="Google Shape;425;p4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6" name="Google Shape;426;p4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7" name="Google Shape;427;p4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8" name="Google Shape;428;p4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5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5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4" name="Google Shape;434;p51"/>
          <p:cNvSpPr/>
          <p:nvPr>
            <p:ph idx="2" type="pic"/>
          </p:nvPr>
        </p:nvSpPr>
        <p:spPr>
          <a:xfrm>
            <a:off x="4804825" y="1133300"/>
            <a:ext cx="4027500" cy="2392800"/>
          </a:xfrm>
          <a:prstGeom prst="rect">
            <a:avLst/>
          </a:prstGeom>
          <a:noFill/>
          <a:ln>
            <a:noFill/>
          </a:ln>
        </p:spPr>
      </p:sp>
      <p:sp>
        <p:nvSpPr>
          <p:cNvPr id="435" name="Google Shape;435;p51"/>
          <p:cNvSpPr/>
          <p:nvPr>
            <p:ph idx="3" type="pic"/>
          </p:nvPr>
        </p:nvSpPr>
        <p:spPr>
          <a:xfrm>
            <a:off x="311725" y="1133300"/>
            <a:ext cx="4027500" cy="2392800"/>
          </a:xfrm>
          <a:prstGeom prst="rect">
            <a:avLst/>
          </a:prstGeom>
          <a:noFill/>
          <a:ln>
            <a:noFill/>
          </a:ln>
        </p:spPr>
      </p:sp>
      <p:sp>
        <p:nvSpPr>
          <p:cNvPr id="436" name="Google Shape;436;p5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5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9" name="Google Shape;439;p5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5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2" name="Google Shape;442;p52"/>
          <p:cNvSpPr/>
          <p:nvPr>
            <p:ph idx="2" type="pic"/>
          </p:nvPr>
        </p:nvSpPr>
        <p:spPr>
          <a:xfrm>
            <a:off x="6205225" y="1128325"/>
            <a:ext cx="2627100" cy="2273100"/>
          </a:xfrm>
          <a:prstGeom prst="rect">
            <a:avLst/>
          </a:prstGeom>
          <a:noFill/>
          <a:ln>
            <a:noFill/>
          </a:ln>
        </p:spPr>
      </p:sp>
      <p:sp>
        <p:nvSpPr>
          <p:cNvPr id="443" name="Google Shape;443;p52"/>
          <p:cNvSpPr/>
          <p:nvPr>
            <p:ph idx="3" type="pic"/>
          </p:nvPr>
        </p:nvSpPr>
        <p:spPr>
          <a:xfrm>
            <a:off x="311725" y="1128325"/>
            <a:ext cx="2627100" cy="2273100"/>
          </a:xfrm>
          <a:prstGeom prst="rect">
            <a:avLst/>
          </a:prstGeom>
          <a:noFill/>
          <a:ln>
            <a:noFill/>
          </a:ln>
        </p:spPr>
      </p:sp>
      <p:sp>
        <p:nvSpPr>
          <p:cNvPr id="444" name="Google Shape;444;p5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5" name="Google Shape;445;p52"/>
          <p:cNvSpPr/>
          <p:nvPr>
            <p:ph idx="5" type="pic"/>
          </p:nvPr>
        </p:nvSpPr>
        <p:spPr>
          <a:xfrm>
            <a:off x="3255250" y="1128325"/>
            <a:ext cx="2627100" cy="2273100"/>
          </a:xfrm>
          <a:prstGeom prst="rect">
            <a:avLst/>
          </a:prstGeom>
          <a:noFill/>
          <a:ln>
            <a:noFill/>
          </a:ln>
        </p:spPr>
      </p:sp>
      <p:sp>
        <p:nvSpPr>
          <p:cNvPr id="446" name="Google Shape;446;p5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7" name="Google Shape;44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9" name="Google Shape;449;p5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0" name="Google Shape;450;p5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5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54"/>
          <p:cNvSpPr/>
          <p:nvPr>
            <p:ph idx="2" type="pic"/>
          </p:nvPr>
        </p:nvSpPr>
        <p:spPr>
          <a:xfrm>
            <a:off x="3389600" y="118913"/>
            <a:ext cx="1643700" cy="1535100"/>
          </a:xfrm>
          <a:prstGeom prst="rect">
            <a:avLst/>
          </a:prstGeom>
          <a:noFill/>
          <a:ln>
            <a:noFill/>
          </a:ln>
        </p:spPr>
      </p:sp>
      <p:sp>
        <p:nvSpPr>
          <p:cNvPr id="455" name="Google Shape;455;p54"/>
          <p:cNvSpPr/>
          <p:nvPr>
            <p:ph idx="3" type="pic"/>
          </p:nvPr>
        </p:nvSpPr>
        <p:spPr>
          <a:xfrm>
            <a:off x="5195935" y="118913"/>
            <a:ext cx="1643700" cy="1535100"/>
          </a:xfrm>
          <a:prstGeom prst="rect">
            <a:avLst/>
          </a:prstGeom>
          <a:noFill/>
          <a:ln>
            <a:noFill/>
          </a:ln>
        </p:spPr>
      </p:sp>
      <p:sp>
        <p:nvSpPr>
          <p:cNvPr id="456" name="Google Shape;456;p54"/>
          <p:cNvSpPr/>
          <p:nvPr>
            <p:ph idx="4" type="pic"/>
          </p:nvPr>
        </p:nvSpPr>
        <p:spPr>
          <a:xfrm>
            <a:off x="7002270" y="118913"/>
            <a:ext cx="1643700" cy="1535100"/>
          </a:xfrm>
          <a:prstGeom prst="rect">
            <a:avLst/>
          </a:prstGeom>
          <a:noFill/>
          <a:ln>
            <a:noFill/>
          </a:ln>
        </p:spPr>
      </p:sp>
      <p:sp>
        <p:nvSpPr>
          <p:cNvPr id="457" name="Google Shape;457;p54"/>
          <p:cNvSpPr/>
          <p:nvPr>
            <p:ph idx="5" type="pic"/>
          </p:nvPr>
        </p:nvSpPr>
        <p:spPr>
          <a:xfrm>
            <a:off x="3389588" y="1804212"/>
            <a:ext cx="1643700" cy="1535100"/>
          </a:xfrm>
          <a:prstGeom prst="rect">
            <a:avLst/>
          </a:prstGeom>
          <a:noFill/>
          <a:ln>
            <a:noFill/>
          </a:ln>
        </p:spPr>
      </p:sp>
      <p:sp>
        <p:nvSpPr>
          <p:cNvPr id="458" name="Google Shape;458;p54"/>
          <p:cNvSpPr/>
          <p:nvPr>
            <p:ph idx="6" type="pic"/>
          </p:nvPr>
        </p:nvSpPr>
        <p:spPr>
          <a:xfrm>
            <a:off x="5195922" y="1804212"/>
            <a:ext cx="1643700" cy="1535100"/>
          </a:xfrm>
          <a:prstGeom prst="rect">
            <a:avLst/>
          </a:prstGeom>
          <a:noFill/>
          <a:ln>
            <a:noFill/>
          </a:ln>
        </p:spPr>
      </p:sp>
      <p:sp>
        <p:nvSpPr>
          <p:cNvPr id="459" name="Google Shape;459;p54"/>
          <p:cNvSpPr/>
          <p:nvPr>
            <p:ph idx="7" type="pic"/>
          </p:nvPr>
        </p:nvSpPr>
        <p:spPr>
          <a:xfrm>
            <a:off x="7002257" y="1804212"/>
            <a:ext cx="1643700" cy="1535100"/>
          </a:xfrm>
          <a:prstGeom prst="rect">
            <a:avLst/>
          </a:prstGeom>
          <a:noFill/>
          <a:ln>
            <a:noFill/>
          </a:ln>
        </p:spPr>
      </p:sp>
      <p:sp>
        <p:nvSpPr>
          <p:cNvPr id="460" name="Google Shape;460;p5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54"/>
          <p:cNvSpPr/>
          <p:nvPr>
            <p:ph idx="8" type="pic"/>
          </p:nvPr>
        </p:nvSpPr>
        <p:spPr>
          <a:xfrm>
            <a:off x="3389588" y="3489487"/>
            <a:ext cx="1643700" cy="1535100"/>
          </a:xfrm>
          <a:prstGeom prst="rect">
            <a:avLst/>
          </a:prstGeom>
          <a:noFill/>
          <a:ln>
            <a:noFill/>
          </a:ln>
        </p:spPr>
      </p:sp>
      <p:sp>
        <p:nvSpPr>
          <p:cNvPr id="462" name="Google Shape;462;p54"/>
          <p:cNvSpPr/>
          <p:nvPr>
            <p:ph idx="9" type="pic"/>
          </p:nvPr>
        </p:nvSpPr>
        <p:spPr>
          <a:xfrm>
            <a:off x="5195922" y="3489487"/>
            <a:ext cx="1643700" cy="1535100"/>
          </a:xfrm>
          <a:prstGeom prst="rect">
            <a:avLst/>
          </a:prstGeom>
          <a:noFill/>
          <a:ln>
            <a:noFill/>
          </a:ln>
        </p:spPr>
      </p:sp>
      <p:sp>
        <p:nvSpPr>
          <p:cNvPr id="463" name="Google Shape;463;p5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7" name="Google Shape;7;p1"/>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5"/>
          <p:cNvSpPr txBox="1"/>
          <p:nvPr>
            <p:ph type="title"/>
          </p:nvPr>
        </p:nvSpPr>
        <p:spPr>
          <a:xfrm>
            <a:off x="100900" y="219600"/>
            <a:ext cx="5663400" cy="68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800">
                <a:solidFill>
                  <a:schemeClr val="accent1"/>
                </a:solidFill>
              </a:rPr>
              <a:t>GreenBot</a:t>
            </a:r>
            <a:br>
              <a:rPr b="1" lang="en" sz="4800"/>
            </a:br>
            <a:endParaRPr b="1" sz="1800"/>
          </a:p>
        </p:txBody>
      </p:sp>
      <p:sp>
        <p:nvSpPr>
          <p:cNvPr id="469" name="Google Shape;469;p55"/>
          <p:cNvSpPr txBox="1"/>
          <p:nvPr>
            <p:ph idx="3" type="body"/>
          </p:nvPr>
        </p:nvSpPr>
        <p:spPr>
          <a:xfrm>
            <a:off x="0" y="1548075"/>
            <a:ext cx="5764200" cy="822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1300">
                <a:latin typeface="Newsreader"/>
                <a:ea typeface="Newsreader"/>
                <a:cs typeface="Newsreader"/>
                <a:sym typeface="Newsreader"/>
              </a:rPr>
              <a:t>Team Members:</a:t>
            </a:r>
            <a:endParaRPr b="1" sz="1300">
              <a:latin typeface="Newsreader"/>
              <a:ea typeface="Newsreader"/>
              <a:cs typeface="Newsreader"/>
              <a:sym typeface="Newsreader"/>
            </a:endParaRPr>
          </a:p>
          <a:p>
            <a:pPr indent="0" lvl="0" marL="0" rtl="0" algn="ctr">
              <a:spcBef>
                <a:spcPts val="0"/>
              </a:spcBef>
              <a:spcAft>
                <a:spcPts val="0"/>
              </a:spcAft>
              <a:buNone/>
            </a:pPr>
            <a:r>
              <a:rPr b="1" lang="en" sz="1300">
                <a:latin typeface="Newsreader"/>
                <a:ea typeface="Newsreader"/>
                <a:cs typeface="Newsreader"/>
                <a:sym typeface="Newsreader"/>
              </a:rPr>
              <a:t>Bader AlKhawashki, Arunima Basu, Fritz Kuermayr, Salvador Gonzalez</a:t>
            </a:r>
            <a:endParaRPr b="1" sz="1300">
              <a:latin typeface="Newsreader"/>
              <a:ea typeface="Newsreader"/>
              <a:cs typeface="Newsreader"/>
              <a:sym typeface="Newsreader"/>
            </a:endParaRPr>
          </a:p>
          <a:p>
            <a:pPr indent="0" lvl="0" marL="0" rtl="0" algn="ctr">
              <a:spcBef>
                <a:spcPts val="0"/>
              </a:spcBef>
              <a:spcAft>
                <a:spcPts val="0"/>
              </a:spcAft>
              <a:buNone/>
            </a:pPr>
            <a:r>
              <a:t/>
            </a:r>
            <a:endParaRPr sz="1200">
              <a:latin typeface="Newsreader Light"/>
              <a:ea typeface="Newsreader Light"/>
              <a:cs typeface="Newsreader Light"/>
              <a:sym typeface="Newsreader Light"/>
            </a:endParaRPr>
          </a:p>
        </p:txBody>
      </p:sp>
      <p:sp>
        <p:nvSpPr>
          <p:cNvPr id="470" name="Google Shape;470;p55"/>
          <p:cNvSpPr txBox="1"/>
          <p:nvPr/>
        </p:nvSpPr>
        <p:spPr>
          <a:xfrm>
            <a:off x="100300" y="829050"/>
            <a:ext cx="5663400" cy="4119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b="1" lang="en">
                <a:solidFill>
                  <a:schemeClr val="dk1"/>
                </a:solidFill>
                <a:latin typeface="Newsreader"/>
                <a:ea typeface="Newsreader"/>
                <a:cs typeface="Newsreader"/>
                <a:sym typeface="Newsreader"/>
              </a:rPr>
              <a:t>Quadruped Greenhouse Humidity Monitoring &amp; Misting Robot</a:t>
            </a:r>
            <a:endParaRPr b="1">
              <a:solidFill>
                <a:schemeClr val="dk1"/>
              </a:solidFill>
              <a:latin typeface="Newsreader"/>
              <a:ea typeface="Newsreader"/>
              <a:cs typeface="Newsreader"/>
              <a:sym typeface="Newsreader"/>
            </a:endParaRPr>
          </a:p>
          <a:p>
            <a:pPr indent="0" lvl="0" marL="0" rtl="0" algn="ctr">
              <a:lnSpc>
                <a:spcPct val="80000"/>
              </a:lnSpc>
              <a:spcBef>
                <a:spcPts val="0"/>
              </a:spcBef>
              <a:spcAft>
                <a:spcPts val="0"/>
              </a:spcAft>
              <a:buNone/>
            </a:pPr>
            <a:r>
              <a:t/>
            </a:r>
            <a:endParaRPr b="1" sz="2100">
              <a:solidFill>
                <a:schemeClr val="dk1"/>
              </a:solidFill>
              <a:latin typeface="Newsreader"/>
              <a:ea typeface="Newsreader"/>
              <a:cs typeface="Newsreader"/>
              <a:sym typeface="Newsreader"/>
            </a:endParaRPr>
          </a:p>
          <a:p>
            <a:pPr indent="0" lvl="0" marL="0" rtl="0" algn="ctr">
              <a:spcBef>
                <a:spcPts val="0"/>
              </a:spcBef>
              <a:spcAft>
                <a:spcPts val="0"/>
              </a:spcAft>
              <a:buNone/>
            </a:pPr>
            <a:r>
              <a:t/>
            </a:r>
            <a:endParaRPr b="1" sz="2100">
              <a:solidFill>
                <a:schemeClr val="lt1"/>
              </a:solidFill>
              <a:latin typeface="DM Sans"/>
              <a:ea typeface="DM Sans"/>
              <a:cs typeface="DM Sans"/>
              <a:sym typeface="DM Sans"/>
            </a:endParaRPr>
          </a:p>
        </p:txBody>
      </p:sp>
      <p:pic>
        <p:nvPicPr>
          <p:cNvPr id="471" name="Google Shape;471;p55"/>
          <p:cNvPicPr preferRelativeResize="0"/>
          <p:nvPr/>
        </p:nvPicPr>
        <p:blipFill>
          <a:blip r:embed="rId3">
            <a:alphaModFix/>
          </a:blip>
          <a:stretch>
            <a:fillRect/>
          </a:stretch>
        </p:blipFill>
        <p:spPr>
          <a:xfrm>
            <a:off x="5989350" y="666050"/>
            <a:ext cx="2945635" cy="3885300"/>
          </a:xfrm>
          <a:prstGeom prst="rect">
            <a:avLst/>
          </a:prstGeom>
          <a:noFill/>
          <a:ln cap="flat" cmpd="sng" w="9525">
            <a:solidFill>
              <a:schemeClr val="dk1"/>
            </a:solidFill>
            <a:prstDash val="solid"/>
            <a:round/>
            <a:headEnd len="sm" w="sm" type="none"/>
            <a:tailEnd len="sm" w="sm" type="none"/>
          </a:ln>
        </p:spPr>
      </p:pic>
      <p:sp>
        <p:nvSpPr>
          <p:cNvPr id="472" name="Google Shape;472;p55"/>
          <p:cNvSpPr/>
          <p:nvPr/>
        </p:nvSpPr>
        <p:spPr>
          <a:xfrm>
            <a:off x="5948900" y="607175"/>
            <a:ext cx="3073500" cy="4014600"/>
          </a:xfrm>
          <a:prstGeom prst="rect">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3" name="Google Shape;473;p55"/>
          <p:cNvSpPr txBox="1"/>
          <p:nvPr/>
        </p:nvSpPr>
        <p:spPr>
          <a:xfrm>
            <a:off x="0" y="2543675"/>
            <a:ext cx="5764200" cy="20781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sz="1600">
                <a:solidFill>
                  <a:schemeClr val="dk1"/>
                </a:solidFill>
                <a:latin typeface="Newsreader"/>
                <a:ea typeface="Newsreader"/>
                <a:cs typeface="Newsreader"/>
                <a:sym typeface="Newsreader"/>
              </a:rPr>
              <a:t>The goal of this project is to create a simple and affordable greenhouse automation system for small and medium-sized farms. GreenBot will be designed to help farmers remotely monitor and control greenhouse conditions when they are not physically present, offering an easier alternative to expensive and overly complicated existing systems. </a:t>
            </a:r>
            <a:endParaRPr b="1" sz="1600">
              <a:solidFill>
                <a:schemeClr val="dk1"/>
              </a:solidFill>
              <a:latin typeface="Newsreader"/>
              <a:ea typeface="Newsreader"/>
              <a:cs typeface="Newsreader"/>
              <a:sym typeface="Newsreader"/>
            </a:endParaRPr>
          </a:p>
          <a:p>
            <a:pPr indent="0" lvl="0" marL="0" rtl="0" algn="l">
              <a:spcBef>
                <a:spcPts val="0"/>
              </a:spcBef>
              <a:spcAft>
                <a:spcPts val="0"/>
              </a:spcAft>
              <a:buNone/>
            </a:pPr>
            <a:r>
              <a:t/>
            </a:r>
            <a:endParaRPr b="1" sz="1600">
              <a:solidFill>
                <a:schemeClr val="dk1"/>
              </a:solidFill>
              <a:latin typeface="Newsreader"/>
              <a:ea typeface="Newsreader"/>
              <a:cs typeface="Newsreader"/>
              <a:sym typeface="Newsread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6"/>
          <p:cNvSpPr txBox="1"/>
          <p:nvPr/>
        </p:nvSpPr>
        <p:spPr>
          <a:xfrm>
            <a:off x="6056675" y="1111850"/>
            <a:ext cx="3063300" cy="3439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u="sng">
                <a:solidFill>
                  <a:schemeClr val="dk1"/>
                </a:solidFill>
                <a:latin typeface="DM Sans"/>
                <a:ea typeface="DM Sans"/>
                <a:cs typeface="DM Sans"/>
                <a:sym typeface="DM Sans"/>
              </a:rPr>
              <a:t>Manufacturing</a:t>
            </a:r>
            <a:endParaRPr b="1" sz="1600" u="sng">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3D print tank platform and sensor mounts </a:t>
            </a:r>
            <a:endParaRPr b="1" sz="1600">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Purchase off-the-shelf sensor, ESP32, mister, and cables </a:t>
            </a:r>
            <a:endParaRPr b="1" sz="1600">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Assemble using fasteners and wire routing</a:t>
            </a:r>
            <a:endParaRPr b="1" sz="1600">
              <a:solidFill>
                <a:schemeClr val="dk1"/>
              </a:solidFill>
              <a:latin typeface="DM Sans"/>
              <a:ea typeface="DM Sans"/>
              <a:cs typeface="DM Sans"/>
              <a:sym typeface="DM Sans"/>
            </a:endParaRPr>
          </a:p>
        </p:txBody>
      </p:sp>
      <p:sp>
        <p:nvSpPr>
          <p:cNvPr id="479" name="Google Shape;479;p56"/>
          <p:cNvSpPr txBox="1"/>
          <p:nvPr/>
        </p:nvSpPr>
        <p:spPr>
          <a:xfrm>
            <a:off x="2993400" y="2840625"/>
            <a:ext cx="3063300" cy="228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u="sng">
                <a:solidFill>
                  <a:schemeClr val="dk1"/>
                </a:solidFill>
                <a:latin typeface="DM Sans"/>
                <a:ea typeface="DM Sans"/>
                <a:cs typeface="DM Sans"/>
                <a:sym typeface="DM Sans"/>
              </a:rPr>
              <a:t>Materials considered</a:t>
            </a:r>
            <a:endParaRPr b="1" sz="1600" u="sng">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3D-printed : PLA/PETG </a:t>
            </a:r>
            <a:endParaRPr b="1"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Nozzle/pump housing: plastic + metal internal pump parts</a:t>
            </a:r>
            <a:endParaRPr b="1" sz="1600">
              <a:solidFill>
                <a:schemeClr val="dk1"/>
              </a:solidFill>
              <a:latin typeface="DM Sans"/>
              <a:ea typeface="DM Sans"/>
              <a:cs typeface="DM Sans"/>
              <a:sym typeface="DM Sans"/>
            </a:endParaRPr>
          </a:p>
          <a:p>
            <a:pPr indent="-330200" lvl="0" marL="457200" rtl="0" algn="l">
              <a:lnSpc>
                <a:spcPct val="115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Sensor housing: lightweight printed enclosure</a:t>
            </a:r>
            <a:endParaRPr b="1" sz="1600">
              <a:solidFill>
                <a:schemeClr val="dk1"/>
              </a:solidFill>
              <a:latin typeface="DM Sans"/>
              <a:ea typeface="DM Sans"/>
              <a:cs typeface="DM Sans"/>
              <a:sym typeface="DM Sans"/>
            </a:endParaRPr>
          </a:p>
        </p:txBody>
      </p:sp>
      <p:sp>
        <p:nvSpPr>
          <p:cNvPr id="480" name="Google Shape;480;p56"/>
          <p:cNvSpPr txBox="1"/>
          <p:nvPr/>
        </p:nvSpPr>
        <p:spPr>
          <a:xfrm>
            <a:off x="0" y="-51975"/>
            <a:ext cx="9144000" cy="53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Newsreader"/>
                <a:ea typeface="Newsreader"/>
                <a:cs typeface="Newsreader"/>
                <a:sym typeface="Newsreader"/>
              </a:rPr>
              <a:t>Upper System: Environmental Monitoring + Misting</a:t>
            </a:r>
            <a:endParaRPr b="1" sz="2500">
              <a:solidFill>
                <a:schemeClr val="dk1"/>
              </a:solidFill>
              <a:latin typeface="Newsreader"/>
              <a:ea typeface="Newsreader"/>
              <a:cs typeface="Newsreader"/>
              <a:sym typeface="Newsreader"/>
            </a:endParaRPr>
          </a:p>
        </p:txBody>
      </p:sp>
      <p:sp>
        <p:nvSpPr>
          <p:cNvPr id="481" name="Google Shape;481;p56"/>
          <p:cNvSpPr txBox="1"/>
          <p:nvPr/>
        </p:nvSpPr>
        <p:spPr>
          <a:xfrm>
            <a:off x="3026875" y="482325"/>
            <a:ext cx="2938500" cy="2167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u="sng">
                <a:solidFill>
                  <a:schemeClr val="dk1"/>
                </a:solidFill>
                <a:latin typeface="DM Sans"/>
                <a:ea typeface="DM Sans"/>
                <a:cs typeface="DM Sans"/>
                <a:sym typeface="DM Sans"/>
              </a:rPr>
              <a:t>Function - Critical parts</a:t>
            </a:r>
            <a:endParaRPr b="1" sz="1600" u="sng">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Humidity sensor</a:t>
            </a:r>
            <a:endParaRPr b="1" sz="1600">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ESP 32 microcontroller</a:t>
            </a:r>
            <a:endParaRPr b="1" sz="1600">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Mister pump + nozzle</a:t>
            </a:r>
            <a:endParaRPr b="1" sz="1600">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Tank and Platform</a:t>
            </a:r>
            <a:endParaRPr b="1" sz="1600">
              <a:solidFill>
                <a:schemeClr val="dk1"/>
              </a:solidFill>
              <a:latin typeface="DM Sans"/>
              <a:ea typeface="DM Sans"/>
              <a:cs typeface="DM Sans"/>
              <a:sym typeface="DM Sans"/>
            </a:endParaRPr>
          </a:p>
          <a:p>
            <a:pPr indent="-330200" lvl="0" marL="457200" rtl="0" algn="l">
              <a:lnSpc>
                <a:spcPct val="15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Cable/LED</a:t>
            </a:r>
            <a:endParaRPr b="1" sz="1600">
              <a:solidFill>
                <a:schemeClr val="dk1"/>
              </a:solidFill>
              <a:latin typeface="DM Sans"/>
              <a:ea typeface="DM Sans"/>
              <a:cs typeface="DM Sans"/>
              <a:sym typeface="DM Sans"/>
            </a:endParaRPr>
          </a:p>
        </p:txBody>
      </p:sp>
      <p:pic>
        <p:nvPicPr>
          <p:cNvPr id="482" name="Google Shape;482;p56"/>
          <p:cNvPicPr preferRelativeResize="0"/>
          <p:nvPr/>
        </p:nvPicPr>
        <p:blipFill>
          <a:blip r:embed="rId3">
            <a:alphaModFix/>
          </a:blip>
          <a:stretch>
            <a:fillRect/>
          </a:stretch>
        </p:blipFill>
        <p:spPr>
          <a:xfrm>
            <a:off x="404699" y="1642562"/>
            <a:ext cx="2418375" cy="1992669"/>
          </a:xfrm>
          <a:prstGeom prst="rect">
            <a:avLst/>
          </a:prstGeom>
          <a:noFill/>
          <a:ln>
            <a:noFill/>
          </a:ln>
        </p:spPr>
      </p:pic>
      <p:sp>
        <p:nvSpPr>
          <p:cNvPr id="483" name="Google Shape;483;p56"/>
          <p:cNvSpPr txBox="1"/>
          <p:nvPr/>
        </p:nvSpPr>
        <p:spPr>
          <a:xfrm>
            <a:off x="0" y="2022588"/>
            <a:ext cx="862500" cy="4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Newsreader"/>
                <a:ea typeface="Newsreader"/>
                <a:cs typeface="Newsreader"/>
                <a:sym typeface="Newsreader"/>
              </a:rPr>
              <a:t>Water Tank</a:t>
            </a:r>
            <a:endParaRPr b="1">
              <a:solidFill>
                <a:schemeClr val="dk1"/>
              </a:solidFill>
              <a:latin typeface="Newsreader"/>
              <a:ea typeface="Newsreader"/>
              <a:cs typeface="Newsreader"/>
              <a:sym typeface="Newsreader"/>
            </a:endParaRPr>
          </a:p>
        </p:txBody>
      </p:sp>
      <p:cxnSp>
        <p:nvCxnSpPr>
          <p:cNvPr id="484" name="Google Shape;484;p56"/>
          <p:cNvCxnSpPr/>
          <p:nvPr/>
        </p:nvCxnSpPr>
        <p:spPr>
          <a:xfrm>
            <a:off x="404700" y="2367613"/>
            <a:ext cx="697800" cy="0"/>
          </a:xfrm>
          <a:prstGeom prst="straightConnector1">
            <a:avLst/>
          </a:prstGeom>
          <a:noFill/>
          <a:ln cap="flat" cmpd="sng" w="38100">
            <a:solidFill>
              <a:schemeClr val="accent3"/>
            </a:solidFill>
            <a:prstDash val="solid"/>
            <a:round/>
            <a:headEnd len="med" w="med" type="none"/>
            <a:tailEnd len="med" w="med" type="triangle"/>
          </a:ln>
        </p:spPr>
      </p:cxnSp>
      <p:sp>
        <p:nvSpPr>
          <p:cNvPr id="485" name="Google Shape;485;p56"/>
          <p:cNvSpPr txBox="1"/>
          <p:nvPr/>
        </p:nvSpPr>
        <p:spPr>
          <a:xfrm>
            <a:off x="2101300" y="2587113"/>
            <a:ext cx="1082100" cy="2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Newsreader"/>
                <a:ea typeface="Newsreader"/>
                <a:cs typeface="Newsreader"/>
                <a:sym typeface="Newsreader"/>
              </a:rPr>
              <a:t>ESP 32</a:t>
            </a:r>
            <a:endParaRPr b="1">
              <a:solidFill>
                <a:schemeClr val="dk1"/>
              </a:solidFill>
              <a:latin typeface="Newsreader"/>
              <a:ea typeface="Newsreader"/>
              <a:cs typeface="Newsreader"/>
              <a:sym typeface="Newsreader"/>
            </a:endParaRPr>
          </a:p>
        </p:txBody>
      </p:sp>
      <p:cxnSp>
        <p:nvCxnSpPr>
          <p:cNvPr id="486" name="Google Shape;486;p56"/>
          <p:cNvCxnSpPr>
            <a:stCxn id="485" idx="2"/>
          </p:cNvCxnSpPr>
          <p:nvPr/>
        </p:nvCxnSpPr>
        <p:spPr>
          <a:xfrm flipH="1">
            <a:off x="2148250" y="2840613"/>
            <a:ext cx="494100" cy="546300"/>
          </a:xfrm>
          <a:prstGeom prst="straightConnector1">
            <a:avLst/>
          </a:prstGeom>
          <a:noFill/>
          <a:ln cap="flat" cmpd="sng" w="38100">
            <a:solidFill>
              <a:schemeClr val="accent3"/>
            </a:solidFill>
            <a:prstDash val="solid"/>
            <a:round/>
            <a:headEnd len="med" w="med" type="none"/>
            <a:tailEnd len="med" w="med" type="triangle"/>
          </a:ln>
        </p:spPr>
      </p:cxnSp>
      <p:sp>
        <p:nvSpPr>
          <p:cNvPr id="487" name="Google Shape;487;p56"/>
          <p:cNvSpPr txBox="1"/>
          <p:nvPr/>
        </p:nvSpPr>
        <p:spPr>
          <a:xfrm>
            <a:off x="1680975" y="1755988"/>
            <a:ext cx="1254600" cy="4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Newsreader"/>
                <a:ea typeface="Newsreader"/>
                <a:cs typeface="Newsreader"/>
                <a:sym typeface="Newsreader"/>
              </a:rPr>
              <a:t>Nozzle</a:t>
            </a:r>
            <a:r>
              <a:rPr b="1" lang="en">
                <a:solidFill>
                  <a:schemeClr val="dk1"/>
                </a:solidFill>
                <a:latin typeface="Newsreader"/>
                <a:ea typeface="Newsreader"/>
                <a:cs typeface="Newsreader"/>
                <a:sym typeface="Newsreader"/>
              </a:rPr>
              <a:t> for mist</a:t>
            </a:r>
            <a:endParaRPr b="1">
              <a:solidFill>
                <a:schemeClr val="dk1"/>
              </a:solidFill>
              <a:latin typeface="Newsreader"/>
              <a:ea typeface="Newsreader"/>
              <a:cs typeface="Newsreader"/>
              <a:sym typeface="Newsreader"/>
            </a:endParaRPr>
          </a:p>
        </p:txBody>
      </p:sp>
      <p:cxnSp>
        <p:nvCxnSpPr>
          <p:cNvPr id="488" name="Google Shape;488;p56"/>
          <p:cNvCxnSpPr>
            <a:stCxn id="487" idx="1"/>
          </p:cNvCxnSpPr>
          <p:nvPr/>
        </p:nvCxnSpPr>
        <p:spPr>
          <a:xfrm flipH="1">
            <a:off x="1426875" y="1983388"/>
            <a:ext cx="254100" cy="54900"/>
          </a:xfrm>
          <a:prstGeom prst="straightConnector1">
            <a:avLst/>
          </a:prstGeom>
          <a:noFill/>
          <a:ln cap="flat" cmpd="sng" w="38100">
            <a:solidFill>
              <a:schemeClr val="accent3"/>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57"/>
          <p:cNvPicPr preferRelativeResize="0"/>
          <p:nvPr/>
        </p:nvPicPr>
        <p:blipFill>
          <a:blip r:embed="rId3">
            <a:alphaModFix/>
          </a:blip>
          <a:stretch>
            <a:fillRect/>
          </a:stretch>
        </p:blipFill>
        <p:spPr>
          <a:xfrm>
            <a:off x="34650" y="560150"/>
            <a:ext cx="2706900" cy="1692664"/>
          </a:xfrm>
          <a:prstGeom prst="rect">
            <a:avLst/>
          </a:prstGeom>
          <a:noFill/>
          <a:ln>
            <a:noFill/>
          </a:ln>
        </p:spPr>
      </p:pic>
      <p:sp>
        <p:nvSpPr>
          <p:cNvPr id="494" name="Google Shape;494;p57"/>
          <p:cNvSpPr txBox="1"/>
          <p:nvPr/>
        </p:nvSpPr>
        <p:spPr>
          <a:xfrm>
            <a:off x="-7400" y="46850"/>
            <a:ext cx="2706900" cy="51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Newsreader"/>
                <a:ea typeface="Newsreader"/>
                <a:cs typeface="Newsreader"/>
                <a:sym typeface="Newsreader"/>
              </a:rPr>
              <a:t>Temperature and Humidity </a:t>
            </a:r>
            <a:endParaRPr b="1" sz="1200">
              <a:solidFill>
                <a:schemeClr val="dk1"/>
              </a:solidFill>
              <a:latin typeface="Newsreader"/>
              <a:ea typeface="Newsreader"/>
              <a:cs typeface="Newsreader"/>
              <a:sym typeface="Newsreader"/>
            </a:endParaRPr>
          </a:p>
          <a:p>
            <a:pPr indent="0" lvl="0" marL="0" rtl="0" algn="ctr">
              <a:spcBef>
                <a:spcPts val="0"/>
              </a:spcBef>
              <a:spcAft>
                <a:spcPts val="0"/>
              </a:spcAft>
              <a:buNone/>
            </a:pPr>
            <a:r>
              <a:rPr b="1" lang="en" sz="1200">
                <a:solidFill>
                  <a:schemeClr val="dk1"/>
                </a:solidFill>
                <a:latin typeface="Newsreader"/>
                <a:ea typeface="Newsreader"/>
                <a:cs typeface="Newsreader"/>
                <a:sym typeface="Newsreader"/>
              </a:rPr>
              <a:t>Sensor Module Data Sheet</a:t>
            </a:r>
            <a:endParaRPr b="1" sz="1200">
              <a:solidFill>
                <a:schemeClr val="dk1"/>
              </a:solidFill>
              <a:latin typeface="Newsreader"/>
              <a:ea typeface="Newsreader"/>
              <a:cs typeface="Newsreader"/>
              <a:sym typeface="Newsreader"/>
            </a:endParaRPr>
          </a:p>
        </p:txBody>
      </p:sp>
      <p:pic>
        <p:nvPicPr>
          <p:cNvPr id="495" name="Google Shape;495;p57"/>
          <p:cNvPicPr preferRelativeResize="0"/>
          <p:nvPr/>
        </p:nvPicPr>
        <p:blipFill>
          <a:blip r:embed="rId4">
            <a:alphaModFix/>
          </a:blip>
          <a:stretch>
            <a:fillRect/>
          </a:stretch>
        </p:blipFill>
        <p:spPr>
          <a:xfrm>
            <a:off x="34650" y="2352625"/>
            <a:ext cx="2776801" cy="2790874"/>
          </a:xfrm>
          <a:prstGeom prst="rect">
            <a:avLst/>
          </a:prstGeom>
          <a:noFill/>
          <a:ln>
            <a:noFill/>
          </a:ln>
        </p:spPr>
      </p:pic>
      <p:pic>
        <p:nvPicPr>
          <p:cNvPr id="496" name="Google Shape;496;p57"/>
          <p:cNvPicPr preferRelativeResize="0"/>
          <p:nvPr/>
        </p:nvPicPr>
        <p:blipFill>
          <a:blip r:embed="rId5">
            <a:alphaModFix/>
          </a:blip>
          <a:stretch>
            <a:fillRect/>
          </a:stretch>
        </p:blipFill>
        <p:spPr>
          <a:xfrm>
            <a:off x="5751651" y="2226225"/>
            <a:ext cx="3362325" cy="2352675"/>
          </a:xfrm>
          <a:prstGeom prst="rect">
            <a:avLst/>
          </a:prstGeom>
          <a:noFill/>
          <a:ln>
            <a:noFill/>
          </a:ln>
        </p:spPr>
      </p:pic>
      <p:pic>
        <p:nvPicPr>
          <p:cNvPr id="497" name="Google Shape;497;p57"/>
          <p:cNvPicPr preferRelativeResize="0"/>
          <p:nvPr/>
        </p:nvPicPr>
        <p:blipFill>
          <a:blip r:embed="rId6">
            <a:alphaModFix/>
          </a:blip>
          <a:stretch>
            <a:fillRect/>
          </a:stretch>
        </p:blipFill>
        <p:spPr>
          <a:xfrm>
            <a:off x="5751649" y="564578"/>
            <a:ext cx="3362326" cy="1658685"/>
          </a:xfrm>
          <a:prstGeom prst="rect">
            <a:avLst/>
          </a:prstGeom>
          <a:noFill/>
          <a:ln>
            <a:noFill/>
          </a:ln>
        </p:spPr>
      </p:pic>
      <p:pic>
        <p:nvPicPr>
          <p:cNvPr id="498" name="Google Shape;498;p57"/>
          <p:cNvPicPr preferRelativeResize="0"/>
          <p:nvPr/>
        </p:nvPicPr>
        <p:blipFill>
          <a:blip r:embed="rId7">
            <a:alphaModFix/>
          </a:blip>
          <a:stretch>
            <a:fillRect/>
          </a:stretch>
        </p:blipFill>
        <p:spPr>
          <a:xfrm>
            <a:off x="2928100" y="1285600"/>
            <a:ext cx="2706900" cy="2227650"/>
          </a:xfrm>
          <a:prstGeom prst="rect">
            <a:avLst/>
          </a:prstGeom>
          <a:noFill/>
          <a:ln>
            <a:noFill/>
          </a:ln>
        </p:spPr>
      </p:pic>
      <p:sp>
        <p:nvSpPr>
          <p:cNvPr id="499" name="Google Shape;499;p57"/>
          <p:cNvSpPr txBox="1"/>
          <p:nvPr/>
        </p:nvSpPr>
        <p:spPr>
          <a:xfrm>
            <a:off x="3103375" y="324100"/>
            <a:ext cx="2387700" cy="41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Newsreader"/>
                <a:ea typeface="Newsreader"/>
                <a:cs typeface="Newsreader"/>
                <a:sym typeface="Newsreader"/>
              </a:rPr>
              <a:t>Data Sheets</a:t>
            </a:r>
            <a:endParaRPr b="1" sz="2000">
              <a:solidFill>
                <a:schemeClr val="dk1"/>
              </a:solidFill>
              <a:latin typeface="Newsreader"/>
              <a:ea typeface="Newsreader"/>
              <a:cs typeface="Newsreader"/>
              <a:sym typeface="Newsread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8"/>
          <p:cNvSpPr txBox="1"/>
          <p:nvPr/>
        </p:nvSpPr>
        <p:spPr>
          <a:xfrm>
            <a:off x="2993400" y="2717400"/>
            <a:ext cx="3063300" cy="228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u="sng">
                <a:solidFill>
                  <a:schemeClr val="dk1"/>
                </a:solidFill>
                <a:latin typeface="DM Sans"/>
                <a:ea typeface="DM Sans"/>
                <a:cs typeface="DM Sans"/>
                <a:sym typeface="DM Sans"/>
              </a:rPr>
              <a:t>Materials considered</a:t>
            </a:r>
            <a:endParaRPr b="1" sz="1600" u="sng">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Legs and </a:t>
            </a:r>
            <a:r>
              <a:rPr b="1" lang="en" sz="1600">
                <a:solidFill>
                  <a:schemeClr val="dk1"/>
                </a:solidFill>
                <a:latin typeface="DM Sans"/>
                <a:ea typeface="DM Sans"/>
                <a:cs typeface="DM Sans"/>
                <a:sym typeface="DM Sans"/>
              </a:rPr>
              <a:t>chassis</a:t>
            </a:r>
            <a:r>
              <a:rPr b="1" lang="en" sz="1600">
                <a:solidFill>
                  <a:schemeClr val="dk1"/>
                </a:solidFill>
                <a:latin typeface="DM Sans"/>
                <a:ea typeface="DM Sans"/>
                <a:cs typeface="DM Sans"/>
                <a:sym typeface="DM Sans"/>
              </a:rPr>
              <a:t>: 3D-printed PLA, PETG</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Bearings: metal</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Actuator</a:t>
            </a:r>
            <a:r>
              <a:rPr b="1" lang="en" sz="1600">
                <a:solidFill>
                  <a:schemeClr val="dk1"/>
                </a:solidFill>
                <a:latin typeface="DM Sans"/>
                <a:ea typeface="DM Sans"/>
                <a:cs typeface="DM Sans"/>
                <a:sym typeface="DM Sans"/>
              </a:rPr>
              <a:t> housings</a:t>
            </a:r>
            <a:r>
              <a:rPr b="1" lang="en" sz="1600">
                <a:solidFill>
                  <a:schemeClr val="dk1"/>
                </a:solidFill>
                <a:latin typeface="DM Sans"/>
                <a:ea typeface="DM Sans"/>
                <a:cs typeface="DM Sans"/>
                <a:sym typeface="DM Sans"/>
              </a:rPr>
              <a:t>: bought</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Fasteners/spacers: metal hardware</a:t>
            </a:r>
            <a:endParaRPr b="1" sz="1600">
              <a:solidFill>
                <a:schemeClr val="dk1"/>
              </a:solidFill>
              <a:latin typeface="DM Sans"/>
              <a:ea typeface="DM Sans"/>
              <a:cs typeface="DM Sans"/>
              <a:sym typeface="DM Sans"/>
            </a:endParaRPr>
          </a:p>
        </p:txBody>
      </p:sp>
      <p:sp>
        <p:nvSpPr>
          <p:cNvPr id="505" name="Google Shape;505;p58"/>
          <p:cNvSpPr txBox="1"/>
          <p:nvPr/>
        </p:nvSpPr>
        <p:spPr>
          <a:xfrm>
            <a:off x="6056700" y="2717400"/>
            <a:ext cx="3063300" cy="228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u="sng">
                <a:solidFill>
                  <a:schemeClr val="dk1"/>
                </a:solidFill>
                <a:latin typeface="DM Sans"/>
                <a:ea typeface="DM Sans"/>
                <a:cs typeface="DM Sans"/>
                <a:sym typeface="DM Sans"/>
              </a:rPr>
              <a:t>Manufacturing</a:t>
            </a:r>
            <a:endParaRPr b="1" sz="1600" u="sng">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3D print leg links, </a:t>
            </a:r>
            <a:r>
              <a:rPr b="1" lang="en" sz="1600">
                <a:solidFill>
                  <a:schemeClr val="dk1"/>
                </a:solidFill>
                <a:latin typeface="DM Sans"/>
                <a:ea typeface="DM Sans"/>
                <a:cs typeface="DM Sans"/>
                <a:sym typeface="DM Sans"/>
              </a:rPr>
              <a:t>chassis</a:t>
            </a:r>
            <a:r>
              <a:rPr b="1" lang="en" sz="1600">
                <a:solidFill>
                  <a:schemeClr val="dk1"/>
                </a:solidFill>
                <a:latin typeface="DM Sans"/>
                <a:ea typeface="DM Sans"/>
                <a:cs typeface="DM Sans"/>
                <a:sym typeface="DM Sans"/>
              </a:rPr>
              <a:t>, holders, and mounts</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Press-fit bearings into printed joints</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Assemble chassis with spacers and screws</a:t>
            </a:r>
            <a:endParaRPr b="1" sz="1600">
              <a:solidFill>
                <a:schemeClr val="dk1"/>
              </a:solidFill>
              <a:latin typeface="DM Sans"/>
              <a:ea typeface="DM Sans"/>
              <a:cs typeface="DM Sans"/>
              <a:sym typeface="DM Sans"/>
            </a:endParaRPr>
          </a:p>
        </p:txBody>
      </p:sp>
      <p:sp>
        <p:nvSpPr>
          <p:cNvPr id="506" name="Google Shape;506;p58"/>
          <p:cNvSpPr txBox="1"/>
          <p:nvPr/>
        </p:nvSpPr>
        <p:spPr>
          <a:xfrm>
            <a:off x="0" y="17925"/>
            <a:ext cx="9144000" cy="53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dk1"/>
                </a:solidFill>
                <a:latin typeface="Newsreader"/>
                <a:ea typeface="Newsreader"/>
                <a:cs typeface="Newsreader"/>
                <a:sym typeface="Newsreader"/>
              </a:rPr>
              <a:t>Lower</a:t>
            </a:r>
            <a:r>
              <a:rPr b="1" lang="en" sz="2500">
                <a:solidFill>
                  <a:schemeClr val="dk1"/>
                </a:solidFill>
                <a:latin typeface="Newsreader"/>
                <a:ea typeface="Newsreader"/>
                <a:cs typeface="Newsreader"/>
                <a:sym typeface="Newsreader"/>
              </a:rPr>
              <a:t> System: Walking/Support Mechanism</a:t>
            </a:r>
            <a:endParaRPr b="1" sz="2500">
              <a:solidFill>
                <a:schemeClr val="dk1"/>
              </a:solidFill>
              <a:latin typeface="Newsreader"/>
              <a:ea typeface="Newsreader"/>
              <a:cs typeface="Newsreader"/>
              <a:sym typeface="Newsreader"/>
            </a:endParaRPr>
          </a:p>
        </p:txBody>
      </p:sp>
      <p:sp>
        <p:nvSpPr>
          <p:cNvPr id="507" name="Google Shape;507;p58"/>
          <p:cNvSpPr txBox="1"/>
          <p:nvPr/>
        </p:nvSpPr>
        <p:spPr>
          <a:xfrm>
            <a:off x="0" y="2717400"/>
            <a:ext cx="2938500" cy="228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u="sng">
                <a:solidFill>
                  <a:schemeClr val="dk1"/>
                </a:solidFill>
                <a:latin typeface="DM Sans"/>
                <a:ea typeface="DM Sans"/>
                <a:cs typeface="DM Sans"/>
                <a:sym typeface="DM Sans"/>
              </a:rPr>
              <a:t>Function - Critical parts</a:t>
            </a:r>
            <a:endParaRPr b="1" sz="1600" u="sng">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4 legs </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Ball bearings(press fit)</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Dynamixel RX-24F actuators</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Chassis</a:t>
            </a:r>
            <a:endParaRPr b="1" sz="1600">
              <a:solidFill>
                <a:schemeClr val="dk1"/>
              </a:solidFill>
              <a:latin typeface="DM Sans"/>
              <a:ea typeface="DM Sans"/>
              <a:cs typeface="DM Sans"/>
              <a:sym typeface="DM Sans"/>
            </a:endParaRPr>
          </a:p>
          <a:p>
            <a:pPr indent="-330200" lvl="0" marL="457200" rtl="0" algn="l">
              <a:lnSpc>
                <a:spcPct val="100000"/>
              </a:lnSpc>
              <a:spcBef>
                <a:spcPts val="0"/>
              </a:spcBef>
              <a:spcAft>
                <a:spcPts val="0"/>
              </a:spcAft>
              <a:buClr>
                <a:schemeClr val="dk1"/>
              </a:buClr>
              <a:buSzPts val="1600"/>
              <a:buFont typeface="DM Sans"/>
              <a:buChar char="●"/>
            </a:pPr>
            <a:r>
              <a:rPr b="1" lang="en" sz="1600">
                <a:solidFill>
                  <a:schemeClr val="dk1"/>
                </a:solidFill>
                <a:latin typeface="DM Sans"/>
                <a:ea typeface="DM Sans"/>
                <a:cs typeface="DM Sans"/>
                <a:sym typeface="DM Sans"/>
              </a:rPr>
              <a:t>Distance holders/mounts</a:t>
            </a:r>
            <a:endParaRPr b="1" sz="1600">
              <a:solidFill>
                <a:schemeClr val="dk1"/>
              </a:solidFill>
              <a:latin typeface="DM Sans"/>
              <a:ea typeface="DM Sans"/>
              <a:cs typeface="DM Sans"/>
              <a:sym typeface="DM Sans"/>
            </a:endParaRPr>
          </a:p>
        </p:txBody>
      </p:sp>
      <p:sp>
        <p:nvSpPr>
          <p:cNvPr id="508" name="Google Shape;508;p58"/>
          <p:cNvSpPr/>
          <p:nvPr/>
        </p:nvSpPr>
        <p:spPr>
          <a:xfrm>
            <a:off x="0" y="552100"/>
            <a:ext cx="9144000" cy="2165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509" name="Google Shape;509;p58"/>
          <p:cNvPicPr preferRelativeResize="0"/>
          <p:nvPr/>
        </p:nvPicPr>
        <p:blipFill>
          <a:blip r:embed="rId3">
            <a:alphaModFix/>
          </a:blip>
          <a:stretch>
            <a:fillRect/>
          </a:stretch>
        </p:blipFill>
        <p:spPr>
          <a:xfrm>
            <a:off x="1235025" y="644588"/>
            <a:ext cx="1758374" cy="1910550"/>
          </a:xfrm>
          <a:prstGeom prst="rect">
            <a:avLst/>
          </a:prstGeom>
          <a:noFill/>
          <a:ln>
            <a:noFill/>
          </a:ln>
        </p:spPr>
      </p:pic>
      <p:pic>
        <p:nvPicPr>
          <p:cNvPr id="510" name="Google Shape;510;p58"/>
          <p:cNvPicPr preferRelativeResize="0"/>
          <p:nvPr/>
        </p:nvPicPr>
        <p:blipFill>
          <a:blip r:embed="rId4">
            <a:alphaModFix/>
          </a:blip>
          <a:stretch>
            <a:fillRect/>
          </a:stretch>
        </p:blipFill>
        <p:spPr>
          <a:xfrm>
            <a:off x="3154648" y="552113"/>
            <a:ext cx="2804253" cy="2095500"/>
          </a:xfrm>
          <a:prstGeom prst="rect">
            <a:avLst/>
          </a:prstGeom>
          <a:noFill/>
          <a:ln>
            <a:noFill/>
          </a:ln>
        </p:spPr>
      </p:pic>
      <p:sp>
        <p:nvSpPr>
          <p:cNvPr id="511" name="Google Shape;511;p58"/>
          <p:cNvSpPr/>
          <p:nvPr/>
        </p:nvSpPr>
        <p:spPr>
          <a:xfrm>
            <a:off x="3893975" y="693738"/>
            <a:ext cx="276000" cy="4953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2" name="Google Shape;512;p58"/>
          <p:cNvSpPr txBox="1"/>
          <p:nvPr/>
        </p:nvSpPr>
        <p:spPr>
          <a:xfrm>
            <a:off x="6103775" y="846138"/>
            <a:ext cx="1758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Newsreader"/>
                <a:ea typeface="Newsreader"/>
                <a:cs typeface="Newsreader"/>
                <a:sym typeface="Newsreader"/>
              </a:rPr>
              <a:t>Raspberry Pi</a:t>
            </a:r>
            <a:endParaRPr b="1" sz="1200">
              <a:solidFill>
                <a:schemeClr val="dk1"/>
              </a:solidFill>
              <a:latin typeface="Newsreader"/>
              <a:ea typeface="Newsreader"/>
              <a:cs typeface="Newsreader"/>
              <a:sym typeface="Newsreader"/>
            </a:endParaRPr>
          </a:p>
        </p:txBody>
      </p:sp>
      <p:cxnSp>
        <p:nvCxnSpPr>
          <p:cNvPr id="513" name="Google Shape;513;p58"/>
          <p:cNvCxnSpPr>
            <a:stCxn id="512" idx="1"/>
            <a:endCxn id="511" idx="3"/>
          </p:cNvCxnSpPr>
          <p:nvPr/>
        </p:nvCxnSpPr>
        <p:spPr>
          <a:xfrm rot="10800000">
            <a:off x="4169975" y="941388"/>
            <a:ext cx="1933800" cy="76200"/>
          </a:xfrm>
          <a:prstGeom prst="straightConnector1">
            <a:avLst/>
          </a:prstGeom>
          <a:noFill/>
          <a:ln cap="flat" cmpd="sng" w="38100">
            <a:solidFill>
              <a:schemeClr val="accent3"/>
            </a:solidFill>
            <a:prstDash val="solid"/>
            <a:round/>
            <a:headEnd len="med" w="med" type="none"/>
            <a:tailEnd len="med" w="med" type="triangle"/>
          </a:ln>
        </p:spPr>
      </p:cxnSp>
      <p:cxnSp>
        <p:nvCxnSpPr>
          <p:cNvPr id="514" name="Google Shape;514;p58"/>
          <p:cNvCxnSpPr/>
          <p:nvPr/>
        </p:nvCxnSpPr>
        <p:spPr>
          <a:xfrm rot="10800000">
            <a:off x="3731300" y="1771288"/>
            <a:ext cx="2514600" cy="371400"/>
          </a:xfrm>
          <a:prstGeom prst="straightConnector1">
            <a:avLst/>
          </a:prstGeom>
          <a:noFill/>
          <a:ln cap="flat" cmpd="sng" w="38100">
            <a:solidFill>
              <a:schemeClr val="accent3"/>
            </a:solidFill>
            <a:prstDash val="solid"/>
            <a:round/>
            <a:headEnd len="med" w="med" type="none"/>
            <a:tailEnd len="med" w="med" type="triangle"/>
          </a:ln>
        </p:spPr>
      </p:cxnSp>
      <p:cxnSp>
        <p:nvCxnSpPr>
          <p:cNvPr id="515" name="Google Shape;515;p58"/>
          <p:cNvCxnSpPr/>
          <p:nvPr/>
        </p:nvCxnSpPr>
        <p:spPr>
          <a:xfrm rot="10800000">
            <a:off x="4655375" y="2114038"/>
            <a:ext cx="1581000" cy="47700"/>
          </a:xfrm>
          <a:prstGeom prst="straightConnector1">
            <a:avLst/>
          </a:prstGeom>
          <a:noFill/>
          <a:ln cap="flat" cmpd="sng" w="38100">
            <a:solidFill>
              <a:schemeClr val="accent3"/>
            </a:solidFill>
            <a:prstDash val="solid"/>
            <a:round/>
            <a:headEnd len="med" w="med" type="none"/>
            <a:tailEnd len="med" w="med" type="triangle"/>
          </a:ln>
        </p:spPr>
      </p:cxnSp>
      <p:sp>
        <p:nvSpPr>
          <p:cNvPr id="516" name="Google Shape;516;p58"/>
          <p:cNvSpPr txBox="1"/>
          <p:nvPr/>
        </p:nvSpPr>
        <p:spPr>
          <a:xfrm>
            <a:off x="6207800" y="1961713"/>
            <a:ext cx="1152600" cy="5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Newsreader"/>
                <a:ea typeface="Newsreader"/>
                <a:cs typeface="Newsreader"/>
                <a:sym typeface="Newsreader"/>
              </a:rPr>
              <a:t>2 legs each side</a:t>
            </a:r>
            <a:endParaRPr b="1" sz="1300">
              <a:solidFill>
                <a:schemeClr val="dk1"/>
              </a:solidFill>
              <a:latin typeface="Newsreader"/>
              <a:ea typeface="Newsreader"/>
              <a:cs typeface="Newsreader"/>
              <a:sym typeface="Newsread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59"/>
          <p:cNvPicPr preferRelativeResize="0"/>
          <p:nvPr/>
        </p:nvPicPr>
        <p:blipFill>
          <a:blip r:embed="rId3">
            <a:alphaModFix/>
          </a:blip>
          <a:stretch>
            <a:fillRect/>
          </a:stretch>
        </p:blipFill>
        <p:spPr>
          <a:xfrm>
            <a:off x="3563150" y="1419500"/>
            <a:ext cx="5357399" cy="2304497"/>
          </a:xfrm>
          <a:prstGeom prst="rect">
            <a:avLst/>
          </a:prstGeom>
          <a:noFill/>
          <a:ln>
            <a:noFill/>
          </a:ln>
        </p:spPr>
      </p:pic>
      <p:cxnSp>
        <p:nvCxnSpPr>
          <p:cNvPr id="522" name="Google Shape;522;p59"/>
          <p:cNvCxnSpPr/>
          <p:nvPr/>
        </p:nvCxnSpPr>
        <p:spPr>
          <a:xfrm flipH="1" rot="10800000">
            <a:off x="5478275" y="1689925"/>
            <a:ext cx="1549500" cy="88800"/>
          </a:xfrm>
          <a:prstGeom prst="straightConnector1">
            <a:avLst/>
          </a:prstGeom>
          <a:noFill/>
          <a:ln cap="flat" cmpd="sng" w="28575">
            <a:solidFill>
              <a:schemeClr val="dk2"/>
            </a:solidFill>
            <a:prstDash val="solid"/>
            <a:round/>
            <a:headEnd len="med" w="med" type="none"/>
            <a:tailEnd len="med" w="med" type="none"/>
          </a:ln>
        </p:spPr>
      </p:cxnSp>
      <p:sp>
        <p:nvSpPr>
          <p:cNvPr id="523" name="Google Shape;523;p59"/>
          <p:cNvSpPr txBox="1"/>
          <p:nvPr/>
        </p:nvSpPr>
        <p:spPr>
          <a:xfrm>
            <a:off x="6075175" y="466350"/>
            <a:ext cx="26415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Newsreader"/>
                <a:ea typeface="Newsreader"/>
                <a:cs typeface="Newsreader"/>
                <a:sym typeface="Newsreader"/>
              </a:rPr>
              <a:t>How Pi 4 and ESP 32 will communicate with each other</a:t>
            </a:r>
            <a:endParaRPr b="1">
              <a:solidFill>
                <a:schemeClr val="dk1"/>
              </a:solidFill>
              <a:latin typeface="Newsreader"/>
              <a:ea typeface="Newsreader"/>
              <a:cs typeface="Newsreader"/>
              <a:sym typeface="Newsreader"/>
            </a:endParaRPr>
          </a:p>
        </p:txBody>
      </p:sp>
      <p:pic>
        <p:nvPicPr>
          <p:cNvPr id="524" name="Google Shape;524;p59"/>
          <p:cNvPicPr preferRelativeResize="0"/>
          <p:nvPr/>
        </p:nvPicPr>
        <p:blipFill>
          <a:blip r:embed="rId4">
            <a:alphaModFix/>
          </a:blip>
          <a:stretch>
            <a:fillRect/>
          </a:stretch>
        </p:blipFill>
        <p:spPr>
          <a:xfrm>
            <a:off x="0" y="161550"/>
            <a:ext cx="9143999" cy="4455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0"/>
          <p:cNvSpPr txBox="1"/>
          <p:nvPr/>
        </p:nvSpPr>
        <p:spPr>
          <a:xfrm>
            <a:off x="207775" y="1342650"/>
            <a:ext cx="8077200" cy="19926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dk1"/>
              </a:buClr>
              <a:buSzPts val="1600"/>
              <a:buFont typeface="Newsreader"/>
              <a:buChar char="●"/>
            </a:pPr>
            <a:r>
              <a:rPr b="1" lang="en" sz="1600">
                <a:solidFill>
                  <a:schemeClr val="dk1"/>
                </a:solidFill>
                <a:latin typeface="Newsreader"/>
                <a:ea typeface="Newsreader"/>
                <a:cs typeface="Newsreader"/>
                <a:sym typeface="Newsreader"/>
              </a:rPr>
              <a:t>How can we make sure that chassis would support the water tank + electronics + battery?</a:t>
            </a:r>
            <a:endParaRPr b="1" sz="1600">
              <a:solidFill>
                <a:schemeClr val="dk1"/>
              </a:solidFill>
              <a:latin typeface="Newsreader"/>
              <a:ea typeface="Newsreader"/>
              <a:cs typeface="Newsreader"/>
              <a:sym typeface="Newsreader"/>
            </a:endParaRPr>
          </a:p>
          <a:p>
            <a:pPr indent="-330200" lvl="0" marL="457200" rtl="0" algn="l">
              <a:lnSpc>
                <a:spcPct val="150000"/>
              </a:lnSpc>
              <a:spcBef>
                <a:spcPts val="0"/>
              </a:spcBef>
              <a:spcAft>
                <a:spcPts val="0"/>
              </a:spcAft>
              <a:buClr>
                <a:schemeClr val="dk1"/>
              </a:buClr>
              <a:buSzPts val="1600"/>
              <a:buFont typeface="Newsreader"/>
              <a:buChar char="●"/>
            </a:pPr>
            <a:r>
              <a:rPr b="1" lang="en" sz="1600">
                <a:solidFill>
                  <a:schemeClr val="dk1"/>
                </a:solidFill>
                <a:latin typeface="Newsreader"/>
                <a:ea typeface="Newsreader"/>
                <a:cs typeface="Newsreader"/>
                <a:sym typeface="Newsreader"/>
              </a:rPr>
              <a:t>What improvements we need to incorporate in the design to provide </a:t>
            </a:r>
            <a:r>
              <a:rPr b="1" lang="en" sz="1600">
                <a:solidFill>
                  <a:schemeClr val="dk1"/>
                </a:solidFill>
                <a:latin typeface="Newsreader"/>
                <a:ea typeface="Newsreader"/>
                <a:cs typeface="Newsreader"/>
                <a:sym typeface="Newsreader"/>
              </a:rPr>
              <a:t>enough torque for full loaded movement?</a:t>
            </a:r>
            <a:endParaRPr b="1" sz="1600">
              <a:solidFill>
                <a:schemeClr val="dk1"/>
              </a:solidFill>
              <a:latin typeface="Newsreader"/>
              <a:ea typeface="Newsreader"/>
              <a:cs typeface="Newsreader"/>
              <a:sym typeface="Newsreader"/>
            </a:endParaRPr>
          </a:p>
          <a:p>
            <a:pPr indent="-330200" lvl="0" marL="457200" rtl="0" algn="l">
              <a:lnSpc>
                <a:spcPct val="150000"/>
              </a:lnSpc>
              <a:spcBef>
                <a:spcPts val="0"/>
              </a:spcBef>
              <a:spcAft>
                <a:spcPts val="0"/>
              </a:spcAft>
              <a:buClr>
                <a:schemeClr val="dk1"/>
              </a:buClr>
              <a:buSzPts val="1600"/>
              <a:buFont typeface="Newsreader"/>
              <a:buChar char="●"/>
            </a:pPr>
            <a:r>
              <a:rPr b="1" lang="en" sz="1600">
                <a:solidFill>
                  <a:schemeClr val="dk1"/>
                </a:solidFill>
                <a:latin typeface="Newsreader"/>
                <a:ea typeface="Newsreader"/>
                <a:cs typeface="Newsreader"/>
                <a:sym typeface="Newsreader"/>
              </a:rPr>
              <a:t>Suggestions for printed material best for strength  and lightweight.</a:t>
            </a:r>
            <a:endParaRPr b="1" sz="1600">
              <a:solidFill>
                <a:schemeClr val="dk1"/>
              </a:solidFill>
              <a:latin typeface="Newsreader"/>
              <a:ea typeface="Newsreader"/>
              <a:cs typeface="Newsreader"/>
              <a:sym typeface="Newsreader"/>
            </a:endParaRPr>
          </a:p>
        </p:txBody>
      </p:sp>
      <p:sp>
        <p:nvSpPr>
          <p:cNvPr id="530" name="Google Shape;530;p60"/>
          <p:cNvSpPr txBox="1"/>
          <p:nvPr/>
        </p:nvSpPr>
        <p:spPr>
          <a:xfrm>
            <a:off x="34075" y="532700"/>
            <a:ext cx="84246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600">
                <a:solidFill>
                  <a:schemeClr val="dk1"/>
                </a:solidFill>
                <a:latin typeface="Newsreader"/>
                <a:ea typeface="Newsreader"/>
                <a:cs typeface="Newsreader"/>
                <a:sym typeface="Newsreader"/>
              </a:rPr>
              <a:t>3 Questions</a:t>
            </a:r>
            <a:endParaRPr b="1" sz="2600">
              <a:solidFill>
                <a:schemeClr val="dk1"/>
              </a:solidFill>
              <a:latin typeface="Newsreader"/>
              <a:ea typeface="Newsreader"/>
              <a:cs typeface="Newsreader"/>
              <a:sym typeface="Newsreade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